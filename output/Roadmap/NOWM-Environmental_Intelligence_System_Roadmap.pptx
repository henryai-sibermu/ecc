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7462500" cy="9753600"/>
  <p:notesSz cx="8794750" cy="12646025"/>
  <p:embeddedFontLst>
    <p:embeddedFont>
      <p:font typeface="Helvetica World" panose="020B0604020202020204" charset="-128"/>
      <p:regular r:id="rId16"/>
    </p:embeddedFont>
    <p:embeddedFont>
      <p:font typeface="Aileron Heavy" panose="020B0604020202020204" charset="0"/>
      <p:regular r:id="rId17"/>
    </p:embeddedFont>
    <p:embeddedFont>
      <p:font typeface="Anonymous Pro" panose="020B0604020202020204" charset="0"/>
      <p:regular r:id="rId18"/>
    </p:embeddedFont>
    <p:embeddedFont>
      <p:font typeface="Arial MT" pitchFamily="50" charset="0"/>
      <p:bold r:id="rId19"/>
      <p:italic r:id="rId20"/>
      <p:boldItalic r:id="rId21"/>
    </p:embeddedFont>
    <p:embeddedFont>
      <p:font typeface="Arial MT Pro" panose="020B0604020202020204" charset="0"/>
      <p:regular r:id="rId22"/>
    </p:embeddedFont>
    <p:embeddedFont>
      <p:font typeface="Barlow Bold" panose="020B0604020202020204" charset="0"/>
      <p:regular r:id="rId23"/>
    </p:embeddedFont>
    <p:embeddedFont>
      <p:font typeface="Barlow Medium" panose="00000600000000000000" pitchFamily="2" charset="0"/>
      <p:regular r:id="rId24"/>
    </p:embeddedFont>
    <p:embeddedFont>
      <p:font typeface="Hussar Bold" panose="020B0604020202020204" charset="0"/>
      <p:regular r:id="rId25"/>
    </p:embeddedFont>
    <p:embeddedFont>
      <p:font typeface="Inter" panose="02000503000000020004" pitchFamily="2" charset="0"/>
      <p:regular r:id="rId26"/>
      <p:bold r:id="rId27"/>
      <p:italic r:id="rId28"/>
      <p:boldItalic r:id="rId29"/>
    </p:embeddedFont>
    <p:embeddedFont>
      <p:font typeface="Inter 18pt SemiBold" panose="02000503000000020004" pitchFamily="2" charset="0"/>
      <p:bold r:id="rId30"/>
      <p:boldItalic r:id="rId31"/>
    </p:embeddedFont>
    <p:embeddedFont>
      <p:font typeface="Kollektif" panose="020B0604020202020204" charset="0"/>
      <p:regular r:id="rId32"/>
    </p:embeddedFont>
    <p:embeddedFont>
      <p:font typeface="Marykate" panose="020B0604020202020204" charset="0"/>
      <p:regular r:id="rId33"/>
    </p:embeddedFont>
    <p:embeddedFont>
      <p:font typeface="Montserrat Bold" pitchFamily="2" charset="0"/>
      <p:bold r:id="rId34"/>
    </p:embeddedFont>
    <p:embeddedFont>
      <p:font typeface="Roboto" panose="02000000000000000000" pitchFamily="2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3951"/>
    <a:srgbClr val="253A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1290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presProps" Target="presProps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font" Target="fonts/font2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3811057" cy="634497"/>
          </a:xfrm>
          <a:prstGeom prst="rect">
            <a:avLst/>
          </a:prstGeom>
        </p:spPr>
        <p:txBody>
          <a:bodyPr vert="horz" lIns="122488" tIns="61245" rIns="122488" bIns="61245" rtlCol="0"/>
          <a:lstStyle>
            <a:lvl1pPr algn="l">
              <a:defRPr sz="16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981659" y="2"/>
            <a:ext cx="3811057" cy="634497"/>
          </a:xfrm>
          <a:prstGeom prst="rect">
            <a:avLst/>
          </a:prstGeom>
        </p:spPr>
        <p:txBody>
          <a:bodyPr vert="horz" lIns="122488" tIns="61245" rIns="122488" bIns="61245" rtlCol="0"/>
          <a:lstStyle>
            <a:lvl1pPr algn="r">
              <a:defRPr sz="1600"/>
            </a:lvl1pPr>
          </a:lstStyle>
          <a:p>
            <a:fld id="{470288A0-C6F1-4B6C-9E44-46619BA131D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4675" y="1577975"/>
            <a:ext cx="7645400" cy="42719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22488" tIns="61245" rIns="122488" bIns="6124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79475" y="6085901"/>
            <a:ext cx="7035800" cy="4979373"/>
          </a:xfrm>
          <a:prstGeom prst="rect">
            <a:avLst/>
          </a:prstGeom>
        </p:spPr>
        <p:txBody>
          <a:bodyPr vert="horz" lIns="122488" tIns="61245" rIns="122488" bIns="6124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2011532"/>
            <a:ext cx="3811057" cy="634497"/>
          </a:xfrm>
          <a:prstGeom prst="rect">
            <a:avLst/>
          </a:prstGeom>
        </p:spPr>
        <p:txBody>
          <a:bodyPr vert="horz" lIns="122488" tIns="61245" rIns="122488" bIns="61245" rtlCol="0" anchor="b"/>
          <a:lstStyle>
            <a:lvl1pPr algn="l">
              <a:defRPr sz="16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981659" y="12011532"/>
            <a:ext cx="3811057" cy="634497"/>
          </a:xfrm>
          <a:prstGeom prst="rect">
            <a:avLst/>
          </a:prstGeom>
        </p:spPr>
        <p:txBody>
          <a:bodyPr vert="horz" lIns="122488" tIns="61245" rIns="122488" bIns="61245" rtlCol="0" anchor="b"/>
          <a:lstStyle>
            <a:lvl1pPr algn="r">
              <a:defRPr sz="1600"/>
            </a:lvl1pPr>
          </a:lstStyle>
          <a:p>
            <a:fld id="{573FADF6-8B05-4328-BC36-83D216B41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933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73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76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93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73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74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42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49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44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236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064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730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13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9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jp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2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7.jp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2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5.svg"/><Relationship Id="rId4" Type="http://schemas.openxmlformats.org/officeDocument/2006/relationships/image" Target="../media/image23.png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5.svg"/><Relationship Id="rId4" Type="http://schemas.openxmlformats.org/officeDocument/2006/relationships/image" Target="../media/image26.png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9.jpg"/><Relationship Id="rId7" Type="http://schemas.openxmlformats.org/officeDocument/2006/relationships/image" Target="../media/image3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101850" y="1524000"/>
            <a:ext cx="9429750" cy="2858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33"/>
              </a:lnSpc>
            </a:pPr>
            <a:r>
              <a:rPr lang="en-US" sz="6159" dirty="0">
                <a:solidFill>
                  <a:srgbClr val="070707"/>
                </a:solidFill>
                <a:latin typeface="Aileron Heavy"/>
                <a:ea typeface="Aileron Heavy"/>
                <a:cs typeface="Aileron Heavy"/>
                <a:sym typeface="Aileron Heavy"/>
              </a:rPr>
              <a:t>Roadmap Environmental</a:t>
            </a:r>
          </a:p>
          <a:p>
            <a:pPr algn="l">
              <a:lnSpc>
                <a:spcPts val="7533"/>
              </a:lnSpc>
            </a:pPr>
            <a:r>
              <a:rPr lang="en-US" sz="6159" dirty="0">
                <a:solidFill>
                  <a:srgbClr val="070707"/>
                </a:solidFill>
                <a:latin typeface="Aileron Heavy"/>
                <a:ea typeface="Aileron Heavy"/>
                <a:cs typeface="Aileron Heavy"/>
                <a:sym typeface="Aileron Heavy"/>
              </a:rPr>
              <a:t>Carrying Capacity</a:t>
            </a:r>
          </a:p>
          <a:p>
            <a:pPr algn="l">
              <a:lnSpc>
                <a:spcPts val="7533"/>
              </a:lnSpc>
            </a:pPr>
            <a:r>
              <a:rPr lang="en-US" sz="6159" dirty="0">
                <a:solidFill>
                  <a:srgbClr val="070707"/>
                </a:solidFill>
                <a:latin typeface="Aileron Heavy"/>
                <a:ea typeface="Aileron Heavy"/>
                <a:cs typeface="Aileron Heavy"/>
                <a:sym typeface="Aileron Heavy"/>
              </a:rPr>
              <a:t>Intelligence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75436" y="4568009"/>
            <a:ext cx="2552700" cy="754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7"/>
              </a:lnSpc>
            </a:pPr>
            <a:r>
              <a:rPr lang="en-US" sz="4426" spc="898" dirty="0">
                <a:solidFill>
                  <a:srgbClr val="070707"/>
                </a:solidFill>
                <a:latin typeface="Anonymous Pro"/>
                <a:ea typeface="Anonymous Pro"/>
                <a:cs typeface="Anonymous Pro"/>
                <a:sym typeface="Anonymous Pro"/>
              </a:rPr>
              <a:t>v1.2.0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82803" y="5671449"/>
            <a:ext cx="7620000" cy="1102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0"/>
              </a:lnSpc>
            </a:pPr>
            <a:r>
              <a:rPr lang="en-US" sz="3544" dirty="0" err="1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Menuju</a:t>
            </a:r>
            <a:r>
              <a:rPr lang="en-US" sz="3544" dirty="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 Integrasi </a:t>
            </a:r>
            <a:r>
              <a:rPr lang="en-US" sz="3544" dirty="0" err="1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Perizinan</a:t>
            </a:r>
            <a:r>
              <a:rPr lang="en-US" sz="3544" dirty="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544" dirty="0" err="1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Berbasis</a:t>
            </a:r>
            <a:endParaRPr lang="en-US" sz="3544" dirty="0">
              <a:solidFill>
                <a:srgbClr val="121212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4420"/>
              </a:lnSpc>
            </a:pPr>
            <a:r>
              <a:rPr lang="en-US" sz="3544" dirty="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Sains &amp; Daya </a:t>
            </a:r>
            <a:r>
              <a:rPr lang="en-US" sz="3544" dirty="0" err="1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Dukung</a:t>
            </a:r>
            <a:r>
              <a:rPr lang="en-US" sz="3544" dirty="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544" dirty="0" err="1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Lingkungan</a:t>
            </a:r>
            <a:endParaRPr lang="en-US" sz="3544" dirty="0">
              <a:solidFill>
                <a:srgbClr val="12121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05040" y="7877746"/>
            <a:ext cx="4772025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Strictly Confidential - Internal Strategy Document</a:t>
            </a:r>
          </a:p>
        </p:txBody>
      </p:sp>
      <p:sp>
        <p:nvSpPr>
          <p:cNvPr id="10" name="Freeform 27">
            <a:extLst>
              <a:ext uri="{FF2B5EF4-FFF2-40B4-BE49-F238E27FC236}">
                <a16:creationId xmlns:a16="http://schemas.microsoft.com/office/drawing/2014/main" id="{6E3310C4-7BCA-53B3-B343-31655FC5428D}"/>
              </a:ext>
            </a:extLst>
          </p:cNvPr>
          <p:cNvSpPr/>
          <p:nvPr/>
        </p:nvSpPr>
        <p:spPr>
          <a:xfrm>
            <a:off x="12769850" y="-844231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Freeform 27">
            <a:extLst>
              <a:ext uri="{FF2B5EF4-FFF2-40B4-BE49-F238E27FC236}">
                <a16:creationId xmlns:a16="http://schemas.microsoft.com/office/drawing/2014/main" id="{DDCEE706-2450-4097-48C0-057C85BD70E9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27">
            <a:extLst>
              <a:ext uri="{FF2B5EF4-FFF2-40B4-BE49-F238E27FC236}">
                <a16:creationId xmlns:a16="http://schemas.microsoft.com/office/drawing/2014/main" id="{7B8DB7C8-A206-CFA5-909D-17A70EF31C45}"/>
              </a:ext>
            </a:extLst>
          </p:cNvPr>
          <p:cNvSpPr/>
          <p:nvPr/>
        </p:nvSpPr>
        <p:spPr>
          <a:xfrm rot="6849967">
            <a:off x="15308169" y="-2197363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1" name="object 2">
            <a:extLst>
              <a:ext uri="{FF2B5EF4-FFF2-40B4-BE49-F238E27FC236}">
                <a16:creationId xmlns:a16="http://schemas.microsoft.com/office/drawing/2014/main" id="{E4D9D913-1665-D1E5-9EF2-579F63119F12}"/>
              </a:ext>
            </a:extLst>
          </p:cNvPr>
          <p:cNvPicPr/>
          <p:nvPr/>
        </p:nvPicPr>
        <p:blipFill>
          <a:blip r:embed="rId5" cstate="print"/>
          <a:srcRect b="18555"/>
          <a:stretch>
            <a:fillRect/>
          </a:stretch>
        </p:blipFill>
        <p:spPr>
          <a:xfrm>
            <a:off x="965200" y="4774565"/>
            <a:ext cx="15544800" cy="3506441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51807" y="1311037"/>
            <a:ext cx="15849600" cy="891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559"/>
              </a:lnSpc>
            </a:pPr>
            <a:r>
              <a:rPr lang="en-US" sz="4400" dirty="0">
                <a:solidFill>
                  <a:srgbClr val="161616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Integrasi OSS &amp; </a:t>
            </a:r>
            <a:r>
              <a:rPr lang="en-US" sz="4400" dirty="0" err="1">
                <a:solidFill>
                  <a:srgbClr val="161616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Validasi</a:t>
            </a:r>
            <a:r>
              <a:rPr lang="en-US" sz="4400" dirty="0">
                <a:solidFill>
                  <a:srgbClr val="161616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4400" dirty="0" err="1">
                <a:solidFill>
                  <a:srgbClr val="161616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Ekologis</a:t>
            </a:r>
            <a:r>
              <a:rPr lang="en-US" sz="4400" dirty="0">
                <a:solidFill>
                  <a:srgbClr val="161616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4400" dirty="0" err="1">
                <a:solidFill>
                  <a:srgbClr val="161616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Otomatis</a:t>
            </a:r>
            <a:endParaRPr lang="en-US" sz="4400" dirty="0">
              <a:solidFill>
                <a:srgbClr val="161616"/>
              </a:solidFill>
              <a:latin typeface="Aileron Heavy" panose="020B0604020202020204" charset="0"/>
              <a:ea typeface="Inter ExtraBold" panose="02000503000000020004" pitchFamily="2" charset="0"/>
              <a:cs typeface="Barlow Bold"/>
              <a:sym typeface="Barlow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49250" y="1971182"/>
            <a:ext cx="5238750" cy="624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51"/>
              </a:lnSpc>
            </a:pPr>
            <a:r>
              <a:rPr lang="en-US" sz="3200" spc="176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Executive Summary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7900" y="3397879"/>
            <a:ext cx="16484600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463" b="1" spc="172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Instrumen</a:t>
            </a:r>
            <a:r>
              <a:rPr lang="en-US" sz="2463" b="1" spc="172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 ini </a:t>
            </a:r>
            <a:r>
              <a:rPr lang="en-US" sz="2463" b="1" spc="172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dirancang</a:t>
            </a:r>
            <a:r>
              <a:rPr lang="en-US" sz="2463" b="1" spc="172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 </a:t>
            </a:r>
            <a:r>
              <a:rPr lang="en-US" sz="2463" b="1" spc="172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untuk</a:t>
            </a:r>
            <a:r>
              <a:rPr lang="en-US" sz="2463" b="1" spc="172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 </a:t>
            </a:r>
            <a:r>
              <a:rPr lang="en-US" sz="2463" b="1" spc="172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koneksi</a:t>
            </a:r>
            <a:r>
              <a:rPr lang="en-US" sz="2463" b="1" spc="172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 </a:t>
            </a:r>
            <a:r>
              <a:rPr lang="en-US" sz="2463" b="1" spc="172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langsung</a:t>
            </a:r>
            <a:r>
              <a:rPr lang="en-US" sz="2463" b="1" spc="172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 </a:t>
            </a:r>
            <a:r>
              <a:rPr lang="en-US" sz="2463" b="1" spc="172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dengan</a:t>
            </a:r>
            <a:r>
              <a:rPr lang="en-US" sz="2463" b="1" spc="172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 OSS RBA (Online Single Submission).</a:t>
            </a:r>
          </a:p>
          <a:p>
            <a:pPr algn="l">
              <a:lnSpc>
                <a:spcPts val="3158"/>
              </a:lnSpc>
            </a:pP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Output data </a:t>
            </a: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daya</a:t>
            </a: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dukung</a:t>
            </a: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berfungsi</a:t>
            </a: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sebagai</a:t>
            </a: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validasi</a:t>
            </a: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otomatis</a:t>
            </a: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(Blocking System) </a:t>
            </a: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untuk</a:t>
            </a: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mencegah</a:t>
            </a:r>
            <a:endParaRPr lang="en-US" sz="2711" dirty="0">
              <a:solidFill>
                <a:srgbClr val="161616"/>
              </a:solidFill>
              <a:latin typeface="Inter" panose="02000503000000020004" pitchFamily="2" charset="0"/>
              <a:ea typeface="Inter" panose="02000503000000020004" pitchFamily="2" charset="0"/>
              <a:cs typeface="Barlow Bold"/>
              <a:sym typeface="Barlow Bold"/>
            </a:endParaRPr>
          </a:p>
          <a:p>
            <a:pPr algn="l">
              <a:lnSpc>
                <a:spcPts val="3158"/>
              </a:lnSpc>
            </a:pP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penerbitan</a:t>
            </a: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izin di zona </a:t>
            </a: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merah</a:t>
            </a: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ekologis</a:t>
            </a: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383" y="6361969"/>
            <a:ext cx="4276725" cy="2327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000" b="1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Bold"/>
                <a:sym typeface="Barlow Bold"/>
              </a:rPr>
              <a:t>Pembangunan </a:t>
            </a:r>
            <a:r>
              <a:rPr lang="en-US" sz="2000" b="1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Bold"/>
                <a:sym typeface="Barlow Bold"/>
              </a:rPr>
              <a:t>Infrastruktur</a:t>
            </a:r>
            <a:endParaRPr lang="en-US" sz="2000" b="1" dirty="0">
              <a:solidFill>
                <a:srgbClr val="161616"/>
              </a:solidFill>
              <a:latin typeface="Roboto" panose="02000000000000000000" pitchFamily="2" charset="0"/>
              <a:ea typeface="Roboto" panose="02000000000000000000" pitchFamily="2" charset="0"/>
              <a:cs typeface="Barlow Bold"/>
              <a:sym typeface="Barlow Bold"/>
            </a:endParaRPr>
          </a:p>
          <a:p>
            <a:pPr algn="l">
              <a:lnSpc>
                <a:spcPts val="3163"/>
              </a:lnSpc>
            </a:pPr>
            <a:r>
              <a:rPr lang="en-US" sz="2000" b="1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Bold"/>
                <a:sym typeface="Barlow Bold"/>
              </a:rPr>
              <a:t>Data &amp; Audit </a:t>
            </a:r>
            <a:r>
              <a:rPr lang="en-US" sz="2000" b="1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Bold"/>
                <a:sym typeface="Barlow Bold"/>
              </a:rPr>
              <a:t>Regulasi</a:t>
            </a:r>
            <a:endParaRPr lang="en-US" sz="2000" b="1" dirty="0">
              <a:solidFill>
                <a:srgbClr val="161616"/>
              </a:solidFill>
              <a:latin typeface="Roboto" panose="02000000000000000000" pitchFamily="2" charset="0"/>
              <a:ea typeface="Roboto" panose="02000000000000000000" pitchFamily="2" charset="0"/>
              <a:cs typeface="Barlow Bold"/>
              <a:sym typeface="Barlow Bold"/>
            </a:endParaRPr>
          </a:p>
          <a:p>
            <a:pPr algn="l">
              <a:lnSpc>
                <a:spcPts val="2993"/>
              </a:lnSpc>
            </a:pPr>
            <a:r>
              <a:rPr lang="en-US" sz="2000" spc="93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Fokus</a:t>
            </a:r>
            <a:r>
              <a:rPr lang="en-US" sz="2000" spc="93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US" sz="2000" spc="93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membongkar</a:t>
            </a:r>
            <a:r>
              <a:rPr lang="en-US" sz="2000" spc="93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 'Black Box'</a:t>
            </a:r>
          </a:p>
          <a:p>
            <a:pPr algn="l">
              <a:lnSpc>
                <a:spcPts val="2952"/>
              </a:lnSpc>
            </a:pPr>
            <a:r>
              <a:rPr lang="en-US" sz="2000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Bold"/>
                <a:sym typeface="Barlow Bold"/>
              </a:rPr>
              <a:t>data </a:t>
            </a:r>
            <a:r>
              <a:rPr lang="en-US" sz="2000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Bold"/>
                <a:sym typeface="Barlow Bold"/>
              </a:rPr>
              <a:t>pemerintah</a:t>
            </a:r>
            <a:r>
              <a:rPr lang="en-US" sz="2000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Bold"/>
                <a:sym typeface="Barlow Bold"/>
              </a:rPr>
              <a:t> dan </a:t>
            </a:r>
            <a:r>
              <a:rPr lang="en-US" sz="2000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Bold"/>
                <a:sym typeface="Barlow Bold"/>
              </a:rPr>
              <a:t>membangun</a:t>
            </a:r>
            <a:endParaRPr lang="en-US" sz="2000" dirty="0">
              <a:solidFill>
                <a:srgbClr val="161616"/>
              </a:solidFill>
              <a:latin typeface="Roboto" panose="02000000000000000000" pitchFamily="2" charset="0"/>
              <a:ea typeface="Roboto" panose="02000000000000000000" pitchFamily="2" charset="0"/>
              <a:cs typeface="Barlow Bold"/>
              <a:sym typeface="Barlow Bold"/>
            </a:endParaRPr>
          </a:p>
          <a:p>
            <a:pPr algn="l">
              <a:lnSpc>
                <a:spcPts val="3044"/>
              </a:lnSpc>
            </a:pPr>
            <a:r>
              <a:rPr lang="en-US" sz="2000" spc="77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fondasi</a:t>
            </a:r>
            <a:r>
              <a:rPr lang="en-US" sz="2000" spc="77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 database </a:t>
            </a:r>
            <a:r>
              <a:rPr lang="en-US" sz="2000" spc="77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tandingan</a:t>
            </a:r>
            <a:endParaRPr lang="en-US" sz="2000" spc="77" dirty="0">
              <a:solidFill>
                <a:srgbClr val="161616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algn="l">
              <a:lnSpc>
                <a:spcPts val="3037"/>
              </a:lnSpc>
            </a:pPr>
            <a:r>
              <a:rPr lang="en-US" sz="2000" spc="83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(Shadow Database).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62727" y="6371590"/>
            <a:ext cx="4362450" cy="192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64"/>
              </a:lnSpc>
            </a:pPr>
            <a:r>
              <a:rPr lang="en-US" sz="2000" dirty="0" err="1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Pemodelan</a:t>
            </a:r>
            <a:r>
              <a:rPr lang="en-US" sz="2000" dirty="0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000" dirty="0" err="1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Analitis</a:t>
            </a:r>
            <a:r>
              <a:rPr lang="en-US" sz="2000" dirty="0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 &amp;</a:t>
            </a:r>
          </a:p>
          <a:p>
            <a:pPr>
              <a:lnSpc>
                <a:spcPts val="2964"/>
              </a:lnSpc>
            </a:pPr>
            <a:r>
              <a:rPr lang="en-US" sz="2000" dirty="0" err="1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Simulasi</a:t>
            </a:r>
            <a:r>
              <a:rPr lang="en-US" sz="2000" dirty="0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000" dirty="0" err="1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Skenario</a:t>
            </a:r>
            <a:endParaRPr lang="en-US" sz="2000" dirty="0">
              <a:solidFill>
                <a:srgbClr val="161616"/>
              </a:solidFill>
              <a:latin typeface="Barlow Bold"/>
              <a:ea typeface="Inter" panose="02000503000000020004" pitchFamily="2" charset="0"/>
              <a:cs typeface="Barlow Bold"/>
              <a:sym typeface="Barlow Bold"/>
            </a:endParaRPr>
          </a:p>
          <a:p>
            <a:pPr>
              <a:lnSpc>
                <a:spcPts val="2667"/>
              </a:lnSpc>
            </a:pPr>
            <a:r>
              <a:rPr lang="en-US" sz="2000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Medium"/>
                <a:sym typeface="Barlow Medium"/>
              </a:rPr>
              <a:t>Fokus</a:t>
            </a:r>
            <a:r>
              <a:rPr lang="en-US" sz="2000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Medium"/>
                <a:sym typeface="Barlow Medium"/>
              </a:rPr>
              <a:t> </a:t>
            </a:r>
            <a:r>
              <a:rPr lang="en-US" sz="2000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Medium"/>
                <a:sym typeface="Barlow Medium"/>
              </a:rPr>
              <a:t>kalkulasi</a:t>
            </a:r>
            <a:r>
              <a:rPr lang="en-US" sz="2000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Medium"/>
                <a:sym typeface="Barlow Medium"/>
              </a:rPr>
              <a:t> </a:t>
            </a:r>
            <a:r>
              <a:rPr lang="en-US" sz="2000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Medium"/>
                <a:sym typeface="Barlow Medium"/>
              </a:rPr>
              <a:t>ilmiah</a:t>
            </a:r>
            <a:r>
              <a:rPr lang="en-US" sz="2000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Medium"/>
                <a:sym typeface="Barlow Medium"/>
              </a:rPr>
              <a:t> </a:t>
            </a:r>
            <a:r>
              <a:rPr lang="en-US" sz="2000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Medium"/>
                <a:sym typeface="Barlow Medium"/>
              </a:rPr>
              <a:t>untuk</a:t>
            </a:r>
            <a:endParaRPr lang="en-US" sz="2000" dirty="0">
              <a:solidFill>
                <a:srgbClr val="161616"/>
              </a:solidFill>
              <a:latin typeface="Roboto" panose="02000000000000000000" pitchFamily="2" charset="0"/>
              <a:ea typeface="Roboto" panose="02000000000000000000" pitchFamily="2" charset="0"/>
              <a:cs typeface="Barlow Medium"/>
              <a:sym typeface="Barlow Medium"/>
            </a:endParaRPr>
          </a:p>
          <a:p>
            <a:pPr>
              <a:lnSpc>
                <a:spcPts val="3292"/>
              </a:lnSpc>
            </a:pPr>
            <a:r>
              <a:rPr lang="en-US" sz="2000" spc="95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membuktikan</a:t>
            </a:r>
            <a:r>
              <a:rPr lang="en-US" sz="2000" spc="95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US" sz="2000" spc="95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kerugian</a:t>
            </a:r>
            <a:r>
              <a:rPr lang="en-US" sz="2000" spc="95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US" sz="2000" spc="95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ekologis</a:t>
            </a:r>
            <a:endParaRPr lang="en-US" sz="2000" spc="95" dirty="0">
              <a:solidFill>
                <a:srgbClr val="161616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>
              <a:lnSpc>
                <a:spcPts val="3257"/>
              </a:lnSpc>
            </a:pPr>
            <a:r>
              <a:rPr lang="en-US" sz="2000" spc="103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dan </a:t>
            </a:r>
            <a:r>
              <a:rPr lang="en-US" sz="2000" spc="103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pelanggaran</a:t>
            </a:r>
            <a:r>
              <a:rPr lang="en-US" sz="2000" spc="103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US" sz="2000" spc="103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zonasi</a:t>
            </a:r>
            <a:r>
              <a:rPr lang="en-US" sz="2000" spc="103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08634" y="6367982"/>
            <a:ext cx="3914775" cy="1913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sz="2000" dirty="0" err="1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Sistem</a:t>
            </a:r>
            <a:r>
              <a:rPr lang="en-US" sz="2000" dirty="0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 Monitoring Publik &amp;</a:t>
            </a:r>
          </a:p>
          <a:p>
            <a:pPr algn="l">
              <a:lnSpc>
                <a:spcPts val="3337"/>
              </a:lnSpc>
            </a:pPr>
            <a:r>
              <a:rPr lang="en-US" sz="2000" dirty="0" err="1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Advokasi</a:t>
            </a:r>
            <a:r>
              <a:rPr lang="en-US" sz="2000" dirty="0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 Digital</a:t>
            </a:r>
          </a:p>
          <a:p>
            <a:pPr algn="l">
              <a:lnSpc>
                <a:spcPts val="2770"/>
              </a:lnSpc>
            </a:pPr>
            <a:r>
              <a:rPr lang="en-US" sz="2000" spc="155" dirty="0" err="1">
                <a:solidFill>
                  <a:srgbClr val="161616"/>
                </a:solidFill>
                <a:latin typeface="Roboto"/>
                <a:ea typeface="Roboto"/>
                <a:cs typeface="Roboto"/>
                <a:sym typeface="Roboto"/>
              </a:rPr>
              <a:t>Fokus</a:t>
            </a:r>
            <a:r>
              <a:rPr lang="en-US" sz="2000" spc="155" dirty="0">
                <a:solidFill>
                  <a:srgbClr val="16161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spc="155" dirty="0" err="1">
                <a:solidFill>
                  <a:srgbClr val="161616"/>
                </a:solidFill>
                <a:latin typeface="Roboto"/>
                <a:ea typeface="Roboto"/>
                <a:cs typeface="Roboto"/>
                <a:sym typeface="Roboto"/>
              </a:rPr>
              <a:t>visualisasi</a:t>
            </a:r>
            <a:r>
              <a:rPr lang="en-US" sz="2000" spc="155" dirty="0">
                <a:solidFill>
                  <a:srgbClr val="161616"/>
                </a:solidFill>
                <a:latin typeface="Roboto"/>
                <a:ea typeface="Roboto"/>
                <a:cs typeface="Roboto"/>
                <a:sym typeface="Roboto"/>
              </a:rPr>
              <a:t> data </a:t>
            </a:r>
            <a:r>
              <a:rPr lang="en-US" sz="2000" spc="155" dirty="0" err="1">
                <a:solidFill>
                  <a:srgbClr val="161616"/>
                </a:solidFill>
                <a:latin typeface="Roboto"/>
                <a:ea typeface="Roboto"/>
                <a:cs typeface="Roboto"/>
                <a:sym typeface="Roboto"/>
              </a:rPr>
              <a:t>untuk</a:t>
            </a:r>
            <a:endParaRPr lang="en-US" sz="2000" spc="155" dirty="0">
              <a:solidFill>
                <a:srgbClr val="161616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2994"/>
              </a:lnSpc>
            </a:pPr>
            <a:r>
              <a:rPr lang="en-US" sz="2000" spc="82" dirty="0" err="1">
                <a:solidFill>
                  <a:srgbClr val="161616"/>
                </a:solidFill>
                <a:latin typeface="Roboto"/>
                <a:ea typeface="Roboto"/>
                <a:cs typeface="Roboto"/>
                <a:sym typeface="Roboto"/>
              </a:rPr>
              <a:t>publik</a:t>
            </a:r>
            <a:r>
              <a:rPr lang="en-US" sz="2000" spc="82" dirty="0">
                <a:solidFill>
                  <a:srgbClr val="161616"/>
                </a:solidFill>
                <a:latin typeface="Roboto"/>
                <a:ea typeface="Roboto"/>
                <a:cs typeface="Roboto"/>
                <a:sym typeface="Roboto"/>
              </a:rPr>
              <a:t>, media, dan </a:t>
            </a:r>
            <a:r>
              <a:rPr lang="en-US" sz="2000" spc="82" dirty="0" err="1">
                <a:solidFill>
                  <a:srgbClr val="161616"/>
                </a:solidFill>
                <a:latin typeface="Roboto"/>
                <a:ea typeface="Roboto"/>
                <a:cs typeface="Roboto"/>
                <a:sym typeface="Roboto"/>
              </a:rPr>
              <a:t>alat</a:t>
            </a:r>
            <a:r>
              <a:rPr lang="en-US" sz="2000" spc="82" dirty="0">
                <a:solidFill>
                  <a:srgbClr val="16161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spc="82" dirty="0" err="1">
                <a:solidFill>
                  <a:srgbClr val="161616"/>
                </a:solidFill>
                <a:latin typeface="Roboto"/>
                <a:ea typeface="Roboto"/>
                <a:cs typeface="Roboto"/>
                <a:sym typeface="Roboto"/>
              </a:rPr>
              <a:t>tekan</a:t>
            </a:r>
            <a:endParaRPr lang="en-US" sz="2000" spc="82" dirty="0">
              <a:solidFill>
                <a:srgbClr val="161616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2803"/>
              </a:lnSpc>
            </a:pPr>
            <a:r>
              <a:rPr lang="en-US" sz="2000" dirty="0" err="1">
                <a:solidFill>
                  <a:srgbClr val="161616"/>
                </a:solidFill>
                <a:latin typeface="Barlow Medium"/>
                <a:ea typeface="Inter" panose="02000503000000020004" pitchFamily="2" charset="0"/>
                <a:cs typeface="Barlow Medium"/>
                <a:sym typeface="Barlow Medium"/>
              </a:rPr>
              <a:t>politik</a:t>
            </a:r>
            <a:r>
              <a:rPr lang="en-US" sz="2000" dirty="0">
                <a:solidFill>
                  <a:srgbClr val="161616"/>
                </a:solidFill>
                <a:latin typeface="Barlow Medium"/>
                <a:ea typeface="Inter" panose="02000503000000020004" pitchFamily="2" charset="0"/>
                <a:cs typeface="Barlow Medium"/>
                <a:sym typeface="Barlow Medium"/>
              </a:rPr>
              <a:t> (Moratorium).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1899B24-2F56-DFEC-F867-8330703401F7}"/>
              </a:ext>
            </a:extLst>
          </p:cNvPr>
          <p:cNvSpPr/>
          <p:nvPr/>
        </p:nvSpPr>
        <p:spPr>
          <a:xfrm>
            <a:off x="863600" y="479072"/>
            <a:ext cx="833188" cy="848215"/>
          </a:xfrm>
          <a:custGeom>
            <a:avLst/>
            <a:gdLst/>
            <a:ahLst/>
            <a:cxnLst/>
            <a:rect l="l" t="t" r="r" b="b"/>
            <a:pathLst>
              <a:path w="274846" h="279803">
                <a:moveTo>
                  <a:pt x="83461" y="0"/>
                </a:moveTo>
                <a:lnTo>
                  <a:pt x="191385" y="0"/>
                </a:lnTo>
                <a:cubicBezTo>
                  <a:pt x="237479" y="0"/>
                  <a:pt x="274846" y="37367"/>
                  <a:pt x="274846" y="83461"/>
                </a:cubicBezTo>
                <a:lnTo>
                  <a:pt x="274846" y="196341"/>
                </a:lnTo>
                <a:cubicBezTo>
                  <a:pt x="274846" y="242436"/>
                  <a:pt x="237479" y="279803"/>
                  <a:pt x="191385" y="279803"/>
                </a:cubicBezTo>
                <a:lnTo>
                  <a:pt x="83461" y="279803"/>
                </a:lnTo>
                <a:cubicBezTo>
                  <a:pt x="37367" y="279803"/>
                  <a:pt x="0" y="242436"/>
                  <a:pt x="0" y="196341"/>
                </a:cubicBezTo>
                <a:lnTo>
                  <a:pt x="0" y="83461"/>
                </a:lnTo>
                <a:cubicBezTo>
                  <a:pt x="0" y="37367"/>
                  <a:pt x="37367" y="0"/>
                  <a:pt x="83461" y="0"/>
                </a:cubicBezTo>
                <a:close/>
              </a:path>
            </a:pathLst>
          </a:custGeom>
          <a:solidFill>
            <a:srgbClr val="092845"/>
          </a:solidFill>
        </p:spPr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DA046BBF-04AC-8BAF-8C97-CE276E58B694}"/>
              </a:ext>
            </a:extLst>
          </p:cNvPr>
          <p:cNvSpPr txBox="1"/>
          <p:nvPr/>
        </p:nvSpPr>
        <p:spPr>
          <a:xfrm>
            <a:off x="863600" y="541038"/>
            <a:ext cx="833188" cy="9637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76"/>
              </a:lnSpc>
            </a:pPr>
            <a:r>
              <a:rPr lang="en-US" sz="32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14" name="AutoShape 3">
            <a:extLst>
              <a:ext uri="{FF2B5EF4-FFF2-40B4-BE49-F238E27FC236}">
                <a16:creationId xmlns:a16="http://schemas.microsoft.com/office/drawing/2014/main" id="{24DC4BEF-7B59-1B32-E224-9EC4B7A5AAAC}"/>
              </a:ext>
            </a:extLst>
          </p:cNvPr>
          <p:cNvSpPr/>
          <p:nvPr/>
        </p:nvSpPr>
        <p:spPr>
          <a:xfrm>
            <a:off x="851807" y="2743200"/>
            <a:ext cx="6965043" cy="0"/>
          </a:xfrm>
          <a:prstGeom prst="line">
            <a:avLst/>
          </a:prstGeom>
          <a:ln w="9525" cap="rnd">
            <a:solidFill>
              <a:srgbClr val="9D9CA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6EF1D91A-31F9-2880-67AB-B417F31F5F0D}"/>
              </a:ext>
            </a:extLst>
          </p:cNvPr>
          <p:cNvSpPr/>
          <p:nvPr/>
        </p:nvSpPr>
        <p:spPr>
          <a:xfrm>
            <a:off x="16103600" y="8616194"/>
            <a:ext cx="628650" cy="628650"/>
          </a:xfrm>
          <a:custGeom>
            <a:avLst/>
            <a:gdLst/>
            <a:ahLst/>
            <a:cxnLst/>
            <a:rect l="l" t="t" r="r" b="b"/>
            <a:pathLst>
              <a:path w="217174" h="217174">
                <a:moveTo>
                  <a:pt x="0" y="0"/>
                </a:moveTo>
                <a:lnTo>
                  <a:pt x="217174" y="0"/>
                </a:lnTo>
                <a:lnTo>
                  <a:pt x="217174" y="217174"/>
                </a:lnTo>
                <a:lnTo>
                  <a:pt x="0" y="2171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>
            <a:extLst>
              <a:ext uri="{FF2B5EF4-FFF2-40B4-BE49-F238E27FC236}">
                <a16:creationId xmlns:a16="http://schemas.microsoft.com/office/drawing/2014/main" id="{88B34063-416A-482E-6A6A-E03A22DC0B0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600" y="3523353"/>
            <a:ext cx="14732000" cy="2946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87951" y="1320622"/>
            <a:ext cx="14308140" cy="83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39"/>
              </a:lnSpc>
            </a:pPr>
            <a:r>
              <a:rPr lang="en-US" sz="4400" b="1" dirty="0">
                <a:solidFill>
                  <a:srgbClr val="151514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Logika Dasar: Jejak Karbon vs. </a:t>
            </a:r>
            <a:r>
              <a:rPr lang="en-US" sz="4400" b="1" dirty="0" err="1">
                <a:solidFill>
                  <a:srgbClr val="151514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Biokapasitas</a:t>
            </a:r>
            <a:endParaRPr lang="en-US" sz="4400" b="1" dirty="0">
              <a:solidFill>
                <a:srgbClr val="151514"/>
              </a:solidFill>
              <a:latin typeface="Aileron Heavy" panose="020B0604020202020204" charset="0"/>
              <a:ea typeface="Inter ExtraBold" panose="02000503000000020004" pitchFamily="2" charset="0"/>
              <a:cs typeface="Barlow Bold"/>
              <a:sym typeface="Barlow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81213" y="2983603"/>
            <a:ext cx="3076575" cy="431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 err="1">
                <a:solidFill>
                  <a:srgbClr val="151514"/>
                </a:solidFill>
                <a:latin typeface="Barlow Bold"/>
                <a:ea typeface="Barlow Bold"/>
                <a:cs typeface="Barlow Bold"/>
                <a:sym typeface="Barlow Bold"/>
              </a:rPr>
              <a:t>Permintaan</a:t>
            </a:r>
            <a:r>
              <a:rPr lang="en-US" sz="2499" dirty="0">
                <a:solidFill>
                  <a:srgbClr val="151514"/>
                </a:solidFill>
                <a:latin typeface="Barlow Bold"/>
                <a:ea typeface="Barlow Bold"/>
                <a:cs typeface="Barlow Bold"/>
                <a:sym typeface="Barlow Bold"/>
              </a:rPr>
              <a:t> / Demand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22463" y="3748778"/>
            <a:ext cx="3419475" cy="490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151514"/>
                </a:solidFill>
                <a:latin typeface="Kollektif"/>
                <a:ea typeface="Kollektif"/>
                <a:cs typeface="Kollektif"/>
                <a:sym typeface="Kollektif"/>
              </a:rPr>
              <a:t>Carbon Footprint (CF)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04715" y="2996303"/>
            <a:ext cx="3114675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 err="1">
                <a:solidFill>
                  <a:srgbClr val="151514"/>
                </a:solidFill>
                <a:latin typeface="Barlow Bold"/>
                <a:ea typeface="Barlow Bold"/>
                <a:cs typeface="Barlow Bold"/>
                <a:sym typeface="Barlow Bold"/>
              </a:rPr>
              <a:t>Penyediaan</a:t>
            </a:r>
            <a:r>
              <a:rPr lang="en-US" sz="2700" dirty="0">
                <a:solidFill>
                  <a:srgbClr val="151514"/>
                </a:solidFill>
                <a:latin typeface="Barlow Bold"/>
                <a:ea typeface="Barlow Bold"/>
                <a:cs typeface="Barlow Bold"/>
                <a:sym typeface="Barlow Bold"/>
              </a:rPr>
              <a:t> / Supply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95299" y="3736077"/>
            <a:ext cx="2695575" cy="507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dirty="0">
                <a:solidFill>
                  <a:srgbClr val="151514"/>
                </a:solidFill>
                <a:latin typeface="Kollektif"/>
                <a:ea typeface="Kollektif"/>
                <a:cs typeface="Kollektif"/>
                <a:sym typeface="Kollektif"/>
              </a:rPr>
              <a:t>Biocapacity (BC)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11376" y="5101328"/>
            <a:ext cx="2857499" cy="413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151514"/>
                </a:solidFill>
                <a:latin typeface="Kollektif" panose="020B0604020202020204" charset="0"/>
                <a:ea typeface="Inter" panose="02000503000000020004" pitchFamily="2" charset="0"/>
                <a:cs typeface="Kollektif"/>
                <a:sym typeface="Kollektif"/>
              </a:rPr>
              <a:t>• </a:t>
            </a:r>
            <a:r>
              <a:rPr lang="en-US" sz="2499" dirty="0" err="1">
                <a:solidFill>
                  <a:srgbClr val="151514"/>
                </a:solidFill>
                <a:latin typeface="Kollektif" panose="020B0604020202020204" charset="0"/>
                <a:ea typeface="Inter" panose="02000503000000020004" pitchFamily="2" charset="0"/>
                <a:cs typeface="Kollektif"/>
                <a:sym typeface="Kollektif"/>
              </a:rPr>
              <a:t>Konsumsi</a:t>
            </a:r>
            <a:r>
              <a:rPr lang="en-US" sz="2499" dirty="0">
                <a:solidFill>
                  <a:srgbClr val="151514"/>
                </a:solidFill>
                <a:latin typeface="Kollektif" panose="020B0604020202020204" charset="0"/>
                <a:ea typeface="Inter" panose="02000503000000020004" pitchFamily="2" charset="0"/>
                <a:cs typeface="Kollektif"/>
                <a:sym typeface="Kollektif"/>
              </a:rPr>
              <a:t> Energi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35388" y="7078181"/>
            <a:ext cx="2181225" cy="400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 err="1">
                <a:solidFill>
                  <a:srgbClr val="401F12"/>
                </a:solidFill>
                <a:latin typeface="Barlow Bold"/>
                <a:ea typeface="Barlow Bold"/>
                <a:cs typeface="Barlow Bold"/>
                <a:sym typeface="Barlow Bold"/>
              </a:rPr>
              <a:t>Defisit</a:t>
            </a:r>
            <a:r>
              <a:rPr lang="en-US" sz="2499" dirty="0">
                <a:solidFill>
                  <a:srgbClr val="401F12"/>
                </a:solidFill>
                <a:latin typeface="Barlow Bold"/>
                <a:ea typeface="Barlow Bold"/>
                <a:cs typeface="Barlow Bold"/>
                <a:sym typeface="Barlow Bold"/>
              </a:rPr>
              <a:t>: </a:t>
            </a:r>
            <a:r>
              <a:rPr lang="en-US" sz="2499" dirty="0">
                <a:solidFill>
                  <a:schemeClr val="accent6"/>
                </a:solidFill>
                <a:latin typeface="Barlow Bold"/>
                <a:ea typeface="Barlow Bold"/>
                <a:cs typeface="Barlow Bold"/>
                <a:sym typeface="Barlow Bold"/>
              </a:rPr>
              <a:t>CF &gt; BC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46388" y="7538556"/>
            <a:ext cx="3895725" cy="53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dirty="0">
                <a:solidFill>
                  <a:srgbClr val="151514"/>
                </a:solidFill>
                <a:latin typeface="Kollektif"/>
                <a:ea typeface="Kollektif"/>
                <a:cs typeface="Kollektif"/>
                <a:sym typeface="Kollektif"/>
              </a:rPr>
              <a:t>(Ecological Overshoot)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93627" y="5096490"/>
            <a:ext cx="933450" cy="38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dirty="0">
                <a:solidFill>
                  <a:srgbClr val="151514"/>
                </a:solidFill>
                <a:latin typeface="Kollektif"/>
                <a:ea typeface="Kollektif"/>
                <a:cs typeface="Kollektif"/>
                <a:sym typeface="Kollektif"/>
              </a:rPr>
              <a:t>• Hutan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33115" y="7135331"/>
            <a:ext cx="3419475" cy="840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4"/>
              </a:lnSpc>
            </a:pPr>
            <a:r>
              <a:rPr lang="en-US" sz="2499" dirty="0">
                <a:solidFill>
                  <a:srgbClr val="12261A"/>
                </a:solidFill>
                <a:latin typeface="Barlow Bold"/>
                <a:ea typeface="Barlow Bold"/>
                <a:cs typeface="Barlow Bold"/>
                <a:sym typeface="Barlow Bold"/>
              </a:rPr>
              <a:t>Reserve: </a:t>
            </a:r>
            <a:r>
              <a:rPr lang="en-US" sz="2499" dirty="0">
                <a:solidFill>
                  <a:srgbClr val="00B050"/>
                </a:solidFill>
                <a:latin typeface="Barlow Bold"/>
                <a:ea typeface="Barlow Bold"/>
                <a:cs typeface="Barlow Bold"/>
                <a:sym typeface="Barlow Bold"/>
              </a:rPr>
              <a:t>BC &gt; CF</a:t>
            </a:r>
          </a:p>
          <a:p>
            <a:pPr algn="ctr">
              <a:lnSpc>
                <a:spcPts val="3543"/>
              </a:lnSpc>
            </a:pPr>
            <a:r>
              <a:rPr lang="en-US" sz="2900" dirty="0">
                <a:solidFill>
                  <a:srgbClr val="151514"/>
                </a:solidFill>
                <a:latin typeface="Kollektif"/>
                <a:ea typeface="Kollektif"/>
                <a:cs typeface="Kollektif"/>
                <a:sym typeface="Kollektif"/>
              </a:rPr>
              <a:t>(Sustainable / Aman)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24479" y="8916361"/>
            <a:ext cx="7635873" cy="317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dirty="0" err="1">
                <a:solidFill>
                  <a:srgbClr val="151514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Sumber</a:t>
            </a:r>
            <a:r>
              <a:rPr lang="en-US" sz="1899" dirty="0">
                <a:solidFill>
                  <a:srgbClr val="151514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: Lampiran Teknis 3: </a:t>
            </a:r>
            <a:r>
              <a:rPr lang="en-US" sz="1899" dirty="0" err="1">
                <a:solidFill>
                  <a:srgbClr val="151514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Kerangka</a:t>
            </a:r>
            <a:r>
              <a:rPr lang="en-US" sz="1899" dirty="0">
                <a:solidFill>
                  <a:srgbClr val="151514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Pikir </a:t>
            </a:r>
            <a:r>
              <a:rPr lang="en-US" sz="1899" dirty="0" err="1">
                <a:solidFill>
                  <a:srgbClr val="151514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Pemetaan</a:t>
            </a:r>
            <a:r>
              <a:rPr lang="en-US" sz="1899" dirty="0">
                <a:solidFill>
                  <a:srgbClr val="151514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1899" dirty="0" err="1">
                <a:solidFill>
                  <a:srgbClr val="151514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Spasial</a:t>
            </a:r>
            <a:endParaRPr lang="en-US" sz="1899" dirty="0">
              <a:solidFill>
                <a:srgbClr val="151514"/>
              </a:solidFill>
              <a:latin typeface="Inter" panose="02000503000000020004" pitchFamily="2" charset="0"/>
              <a:ea typeface="Inter" panose="02000503000000020004" pitchFamily="2" charset="0"/>
              <a:cs typeface="Barlow Bold"/>
              <a:sym typeface="Barlow Bold"/>
            </a:endParaRP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5CDC0D2B-52A6-E45C-1131-105181CF977D}"/>
              </a:ext>
            </a:extLst>
          </p:cNvPr>
          <p:cNvSpPr txBox="1"/>
          <p:nvPr/>
        </p:nvSpPr>
        <p:spPr>
          <a:xfrm>
            <a:off x="1938338" y="5451268"/>
            <a:ext cx="1982788" cy="422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151514"/>
                </a:solidFill>
                <a:latin typeface="Kollektif" panose="020B0604020202020204" charset="0"/>
                <a:ea typeface="Inter" panose="02000503000000020004" pitchFamily="2" charset="0"/>
                <a:cs typeface="Kollektif"/>
                <a:sym typeface="Kollektif"/>
              </a:rPr>
              <a:t>• Pangan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1FCE4015-E203-6DA9-3378-900FABD051F2}"/>
              </a:ext>
            </a:extLst>
          </p:cNvPr>
          <p:cNvSpPr txBox="1"/>
          <p:nvPr/>
        </p:nvSpPr>
        <p:spPr>
          <a:xfrm>
            <a:off x="2017714" y="5795755"/>
            <a:ext cx="2476500" cy="42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151514"/>
                </a:solidFill>
                <a:latin typeface="Kollektif" panose="020B0604020202020204" charset="0"/>
                <a:ea typeface="Inter" panose="02000503000000020004" pitchFamily="2" charset="0"/>
                <a:cs typeface="Kollektif"/>
                <a:sym typeface="Kollektif"/>
              </a:rPr>
              <a:t>• </a:t>
            </a:r>
            <a:r>
              <a:rPr lang="en-US" sz="2499" dirty="0" err="1">
                <a:solidFill>
                  <a:srgbClr val="151514"/>
                </a:solidFill>
                <a:latin typeface="Kollektif" panose="020B0604020202020204" charset="0"/>
                <a:ea typeface="Inter" panose="02000503000000020004" pitchFamily="2" charset="0"/>
                <a:cs typeface="Kollektif"/>
                <a:sym typeface="Kollektif"/>
              </a:rPr>
              <a:t>Transportasi</a:t>
            </a:r>
            <a:endParaRPr lang="en-US" sz="2499" dirty="0">
              <a:solidFill>
                <a:srgbClr val="151514"/>
              </a:solidFill>
              <a:latin typeface="Kollektif" panose="020B0604020202020204" charset="0"/>
              <a:ea typeface="Inter" panose="02000503000000020004" pitchFamily="2" charset="0"/>
              <a:cs typeface="Kollektif"/>
              <a:sym typeface="Kollektif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8D5D0D1-F172-9888-3CC6-0822177488AE}"/>
              </a:ext>
            </a:extLst>
          </p:cNvPr>
          <p:cNvSpPr/>
          <p:nvPr/>
        </p:nvSpPr>
        <p:spPr>
          <a:xfrm>
            <a:off x="2450207" y="6918909"/>
            <a:ext cx="4572000" cy="1417856"/>
          </a:xfrm>
          <a:prstGeom prst="roundRect">
            <a:avLst>
              <a:gd name="adj" fmla="val 7247"/>
            </a:avLst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4D6F677E-175F-9489-302F-D50B18597458}"/>
              </a:ext>
            </a:extLst>
          </p:cNvPr>
          <p:cNvSpPr txBox="1"/>
          <p:nvPr/>
        </p:nvSpPr>
        <p:spPr>
          <a:xfrm>
            <a:off x="12493627" y="5419536"/>
            <a:ext cx="2187573" cy="3627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dirty="0">
                <a:solidFill>
                  <a:srgbClr val="151514"/>
                </a:solidFill>
                <a:latin typeface="Kollektif"/>
                <a:ea typeface="Kollektif"/>
                <a:cs typeface="Kollektif"/>
                <a:sym typeface="Kollektif"/>
              </a:rPr>
              <a:t>• Lahan </a:t>
            </a:r>
            <a:r>
              <a:rPr lang="en-US" sz="2199" dirty="0" err="1">
                <a:solidFill>
                  <a:srgbClr val="151514"/>
                </a:solidFill>
                <a:latin typeface="Kollektif"/>
                <a:ea typeface="Kollektif"/>
                <a:cs typeface="Kollektif"/>
                <a:sym typeface="Kollektif"/>
              </a:rPr>
              <a:t>Pertanian</a:t>
            </a:r>
            <a:endParaRPr lang="en-US" sz="2199" dirty="0">
              <a:solidFill>
                <a:srgbClr val="151514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87A67BE7-F928-9156-F5DD-904A6BEC8B99}"/>
              </a:ext>
            </a:extLst>
          </p:cNvPr>
          <p:cNvSpPr txBox="1"/>
          <p:nvPr/>
        </p:nvSpPr>
        <p:spPr>
          <a:xfrm>
            <a:off x="12465050" y="5782328"/>
            <a:ext cx="2363785" cy="3627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dirty="0">
                <a:solidFill>
                  <a:srgbClr val="151514"/>
                </a:solidFill>
                <a:latin typeface="Kollektif"/>
                <a:ea typeface="Kollektif"/>
                <a:cs typeface="Kollektif"/>
                <a:sym typeface="Kollektif"/>
              </a:rPr>
              <a:t>• Daya </a:t>
            </a:r>
            <a:r>
              <a:rPr lang="en-US" sz="2199" dirty="0" err="1">
                <a:solidFill>
                  <a:srgbClr val="151514"/>
                </a:solidFill>
                <a:latin typeface="Kollektif"/>
                <a:ea typeface="Kollektif"/>
                <a:cs typeface="Kollektif"/>
                <a:sym typeface="Kollektif"/>
              </a:rPr>
              <a:t>Regenerasi</a:t>
            </a:r>
            <a:endParaRPr lang="en-US" sz="2199" dirty="0">
              <a:solidFill>
                <a:srgbClr val="151514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658F7CA-651B-784F-F074-8DDFA5156438}"/>
              </a:ext>
            </a:extLst>
          </p:cNvPr>
          <p:cNvSpPr/>
          <p:nvPr/>
        </p:nvSpPr>
        <p:spPr>
          <a:xfrm>
            <a:off x="10440294" y="6890274"/>
            <a:ext cx="4572000" cy="1417856"/>
          </a:xfrm>
          <a:prstGeom prst="roundRect">
            <a:avLst>
              <a:gd name="adj" fmla="val 7247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3C94E5F2-9A66-E617-9139-113854304A21}"/>
              </a:ext>
            </a:extLst>
          </p:cNvPr>
          <p:cNvSpPr/>
          <p:nvPr/>
        </p:nvSpPr>
        <p:spPr>
          <a:xfrm>
            <a:off x="863600" y="479072"/>
            <a:ext cx="833188" cy="848215"/>
          </a:xfrm>
          <a:custGeom>
            <a:avLst/>
            <a:gdLst/>
            <a:ahLst/>
            <a:cxnLst/>
            <a:rect l="l" t="t" r="r" b="b"/>
            <a:pathLst>
              <a:path w="274846" h="279803">
                <a:moveTo>
                  <a:pt x="83461" y="0"/>
                </a:moveTo>
                <a:lnTo>
                  <a:pt x="191385" y="0"/>
                </a:lnTo>
                <a:cubicBezTo>
                  <a:pt x="237479" y="0"/>
                  <a:pt x="274846" y="37367"/>
                  <a:pt x="274846" y="83461"/>
                </a:cubicBezTo>
                <a:lnTo>
                  <a:pt x="274846" y="196341"/>
                </a:lnTo>
                <a:cubicBezTo>
                  <a:pt x="274846" y="242436"/>
                  <a:pt x="237479" y="279803"/>
                  <a:pt x="191385" y="279803"/>
                </a:cubicBezTo>
                <a:lnTo>
                  <a:pt x="83461" y="279803"/>
                </a:lnTo>
                <a:cubicBezTo>
                  <a:pt x="37367" y="279803"/>
                  <a:pt x="0" y="242436"/>
                  <a:pt x="0" y="196341"/>
                </a:cubicBezTo>
                <a:lnTo>
                  <a:pt x="0" y="83461"/>
                </a:lnTo>
                <a:cubicBezTo>
                  <a:pt x="0" y="37367"/>
                  <a:pt x="37367" y="0"/>
                  <a:pt x="83461" y="0"/>
                </a:cubicBezTo>
                <a:close/>
              </a:path>
            </a:pathLst>
          </a:custGeom>
          <a:solidFill>
            <a:srgbClr val="092845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9D6F1636-A2A5-07A6-EA7F-34C0707277DB}"/>
              </a:ext>
            </a:extLst>
          </p:cNvPr>
          <p:cNvSpPr txBox="1"/>
          <p:nvPr/>
        </p:nvSpPr>
        <p:spPr>
          <a:xfrm>
            <a:off x="863600" y="541038"/>
            <a:ext cx="833188" cy="9637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76"/>
              </a:lnSpc>
            </a:pPr>
            <a:r>
              <a:rPr lang="en-US" sz="32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A301C3A6-11EA-7262-582E-B57B02CFD924}"/>
              </a:ext>
            </a:extLst>
          </p:cNvPr>
          <p:cNvSpPr/>
          <p:nvPr/>
        </p:nvSpPr>
        <p:spPr>
          <a:xfrm>
            <a:off x="851807" y="2438400"/>
            <a:ext cx="6965043" cy="0"/>
          </a:xfrm>
          <a:prstGeom prst="line">
            <a:avLst/>
          </a:prstGeom>
          <a:ln w="9525" cap="rnd">
            <a:solidFill>
              <a:srgbClr val="9D9CA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B559520C-6456-4BB2-01EE-C760A58F4F60}"/>
              </a:ext>
            </a:extLst>
          </p:cNvPr>
          <p:cNvSpPr/>
          <p:nvPr/>
        </p:nvSpPr>
        <p:spPr>
          <a:xfrm>
            <a:off x="16103600" y="8616194"/>
            <a:ext cx="628650" cy="628650"/>
          </a:xfrm>
          <a:custGeom>
            <a:avLst/>
            <a:gdLst/>
            <a:ahLst/>
            <a:cxnLst/>
            <a:rect l="l" t="t" r="r" b="b"/>
            <a:pathLst>
              <a:path w="217174" h="217174">
                <a:moveTo>
                  <a:pt x="0" y="0"/>
                </a:moveTo>
                <a:lnTo>
                  <a:pt x="217174" y="0"/>
                </a:lnTo>
                <a:lnTo>
                  <a:pt x="217174" y="217174"/>
                </a:lnTo>
                <a:lnTo>
                  <a:pt x="0" y="2171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27">
            <a:extLst>
              <a:ext uri="{FF2B5EF4-FFF2-40B4-BE49-F238E27FC236}">
                <a16:creationId xmlns:a16="http://schemas.microsoft.com/office/drawing/2014/main" id="{E78B7B97-27D5-0087-E93A-DE2B28B67AF3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1CB1735-7252-40C7-ACBE-82303A2D642A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850" y="5017202"/>
            <a:ext cx="7770004" cy="13308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72195" y="1523859"/>
            <a:ext cx="11774491" cy="696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</a:pPr>
            <a:r>
              <a:rPr lang="en-US" sz="4400" b="1" dirty="0" err="1">
                <a:solidFill>
                  <a:srgbClr val="111111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Algoritma</a:t>
            </a:r>
            <a:r>
              <a:rPr lang="en-US" sz="4400" b="1" dirty="0">
                <a:solidFill>
                  <a:srgbClr val="111111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4400" b="1" dirty="0" err="1">
                <a:solidFill>
                  <a:srgbClr val="111111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Perhitungan</a:t>
            </a:r>
            <a:r>
              <a:rPr lang="en-US" sz="4400" b="1" dirty="0">
                <a:solidFill>
                  <a:srgbClr val="111111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Jejak Karbon (CF)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9850" y="3174352"/>
            <a:ext cx="7888359" cy="708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1" dirty="0">
                <a:solidFill>
                  <a:srgbClr val="111111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CF = (IN × </a:t>
            </a:r>
            <a:r>
              <a:rPr lang="en-US" sz="4299" b="1" dirty="0" err="1">
                <a:solidFill>
                  <a:srgbClr val="111111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AAct</a:t>
            </a:r>
            <a:r>
              <a:rPr lang="en-US" sz="4299" b="1" dirty="0">
                <a:solidFill>
                  <a:srgbClr val="111111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× Emission)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77321" y="4552949"/>
            <a:ext cx="2861367" cy="495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111111"/>
                </a:solidFill>
                <a:latin typeface="Inter 18pt SemiBold" panose="02000503000000020004" pitchFamily="2" charset="0"/>
                <a:ea typeface="Inter 18pt SemiBold" panose="02000503000000020004" pitchFamily="2" charset="0"/>
                <a:cs typeface="Barlow Bold"/>
                <a:sym typeface="Barlow Bold"/>
              </a:rPr>
              <a:t>Pangan (Food)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39926" y="5403850"/>
            <a:ext cx="2343150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173929"/>
                </a:solidFill>
                <a:latin typeface="Barlow Bold"/>
                <a:ea typeface="Barlow Bold"/>
                <a:cs typeface="Barlow Bold"/>
                <a:sym typeface="Barlow Bold"/>
              </a:rPr>
              <a:t>CFFC = </a:t>
            </a:r>
            <a:r>
              <a:rPr lang="en-US" sz="2000" dirty="0">
                <a:solidFill>
                  <a:schemeClr val="accent6"/>
                </a:solidFill>
                <a:latin typeface="Barlow Bold"/>
                <a:ea typeface="Barlow Bold"/>
                <a:cs typeface="Barlow Bold"/>
                <a:sym typeface="Barlow Bold"/>
              </a:rPr>
              <a:t>IN</a:t>
            </a:r>
            <a:r>
              <a:rPr lang="en-US" sz="2000" dirty="0">
                <a:solidFill>
                  <a:srgbClr val="173929"/>
                </a:solidFill>
                <a:latin typeface="Barlow Bold"/>
                <a:ea typeface="Barlow Bold"/>
                <a:cs typeface="Barlow Bold"/>
                <a:sym typeface="Barlow Bold"/>
              </a:rPr>
              <a:t> × AF × </a:t>
            </a:r>
            <a:r>
              <a:rPr lang="en-US" sz="2000" dirty="0">
                <a:solidFill>
                  <a:srgbClr val="00B050"/>
                </a:solidFill>
                <a:latin typeface="Barlow Bold"/>
                <a:ea typeface="Barlow Bold"/>
                <a:cs typeface="Barlow Bold"/>
                <a:sym typeface="Barlow Bold"/>
              </a:rPr>
              <a:t>ICO2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01827" y="6268741"/>
            <a:ext cx="3419475" cy="1257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2168" spc="121" dirty="0">
                <a:solidFill>
                  <a:schemeClr val="accent6"/>
                </a:solidFill>
                <a:latin typeface="Barlow Bold" panose="020B0604020202020204" charset="0"/>
                <a:ea typeface="Roboto"/>
                <a:cs typeface="Roboto"/>
                <a:sym typeface="Roboto"/>
              </a:rPr>
              <a:t>IN</a:t>
            </a:r>
            <a:r>
              <a:rPr lang="en-US" sz="2168" spc="121" dirty="0">
                <a:solidFill>
                  <a:srgbClr val="573927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2168" spc="121" dirty="0" err="1">
                <a:solidFill>
                  <a:srgbClr val="573927"/>
                </a:solidFill>
                <a:latin typeface="Roboto"/>
                <a:ea typeface="Roboto"/>
                <a:cs typeface="Roboto"/>
                <a:sym typeface="Roboto"/>
              </a:rPr>
              <a:t>Populasi</a:t>
            </a:r>
            <a:r>
              <a:rPr lang="en-US" sz="2168" spc="121" dirty="0">
                <a:solidFill>
                  <a:srgbClr val="573927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</a:p>
          <a:p>
            <a:pPr algn="l">
              <a:lnSpc>
                <a:spcPts val="3373"/>
              </a:lnSpc>
            </a:pPr>
            <a:r>
              <a:rPr lang="en-US" sz="2219" b="1" spc="75" dirty="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AF</a:t>
            </a:r>
            <a:r>
              <a:rPr lang="en-US" sz="2219" spc="75" dirty="0">
                <a:solidFill>
                  <a:srgbClr val="402F25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2219" spc="75" dirty="0" err="1">
                <a:solidFill>
                  <a:srgbClr val="402F25"/>
                </a:solidFill>
                <a:latin typeface="Roboto"/>
                <a:ea typeface="Roboto"/>
                <a:cs typeface="Roboto"/>
                <a:sym typeface="Roboto"/>
              </a:rPr>
              <a:t>Konsumsi</a:t>
            </a:r>
            <a:r>
              <a:rPr lang="en-US" sz="2219" spc="75" dirty="0">
                <a:solidFill>
                  <a:srgbClr val="402F25"/>
                </a:solidFill>
                <a:latin typeface="Roboto"/>
                <a:ea typeface="Roboto"/>
                <a:cs typeface="Roboto"/>
                <a:sym typeface="Roboto"/>
              </a:rPr>
              <a:t> per </a:t>
            </a:r>
            <a:r>
              <a:rPr lang="en-US" sz="2219" spc="75" dirty="0" err="1">
                <a:solidFill>
                  <a:srgbClr val="402F25"/>
                </a:solidFill>
                <a:latin typeface="Roboto"/>
                <a:ea typeface="Roboto"/>
                <a:cs typeface="Roboto"/>
                <a:sym typeface="Roboto"/>
              </a:rPr>
              <a:t>kapita</a:t>
            </a:r>
            <a:r>
              <a:rPr lang="en-US" sz="2219" spc="75" dirty="0">
                <a:solidFill>
                  <a:srgbClr val="402F2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</a:p>
          <a:p>
            <a:pPr algn="l">
              <a:lnSpc>
                <a:spcPts val="3365"/>
              </a:lnSpc>
            </a:pPr>
            <a:r>
              <a:rPr lang="en-US" sz="2214" b="1" spc="95" dirty="0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ICO2</a:t>
            </a:r>
            <a:r>
              <a:rPr lang="en-US" sz="2214" spc="95" dirty="0">
                <a:solidFill>
                  <a:srgbClr val="254A3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214" spc="95" dirty="0"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-US" sz="2214" spc="95" dirty="0" err="1">
                <a:latin typeface="Roboto"/>
                <a:ea typeface="Roboto"/>
                <a:cs typeface="Roboto"/>
                <a:sym typeface="Roboto"/>
              </a:rPr>
              <a:t>Emisi</a:t>
            </a:r>
            <a:r>
              <a:rPr lang="en-US" sz="2214" spc="95" dirty="0">
                <a:latin typeface="Roboto"/>
                <a:ea typeface="Roboto"/>
                <a:cs typeface="Roboto"/>
                <a:sym typeface="Roboto"/>
              </a:rPr>
              <a:t> Lifecycle)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37951" y="4601594"/>
            <a:ext cx="4512156" cy="5309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 err="1">
                <a:solidFill>
                  <a:srgbClr val="111111"/>
                </a:solidFill>
                <a:latin typeface="Inter 18pt SemiBold" panose="02000503000000020004" pitchFamily="2" charset="0"/>
                <a:ea typeface="Inter 18pt SemiBold" panose="02000503000000020004" pitchFamily="2" charset="0"/>
                <a:cs typeface="Barlow Bold"/>
                <a:sym typeface="Barlow Bold"/>
              </a:rPr>
              <a:t>Perumahan</a:t>
            </a:r>
            <a:r>
              <a:rPr lang="en-US" sz="3200" dirty="0">
                <a:solidFill>
                  <a:srgbClr val="111111"/>
                </a:solidFill>
                <a:latin typeface="Inter 18pt SemiBold" panose="02000503000000020004" pitchFamily="2" charset="0"/>
                <a:ea typeface="Inter 18pt SemiBold" panose="02000503000000020004" pitchFamily="2" charset="0"/>
                <a:cs typeface="Barlow Bold"/>
                <a:sym typeface="Barlow Bold"/>
              </a:rPr>
              <a:t> (Housing)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54852" y="5387975"/>
            <a:ext cx="3352800" cy="354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dirty="0">
                <a:solidFill>
                  <a:srgbClr val="254A34"/>
                </a:solidFill>
                <a:latin typeface="Barlow Bold"/>
                <a:ea typeface="Barlow Bold"/>
                <a:cs typeface="Barlow Bold"/>
                <a:sym typeface="Barlow Bold"/>
              </a:rPr>
              <a:t>CFEL = </a:t>
            </a:r>
            <a:r>
              <a:rPr lang="en-US" sz="2199" dirty="0">
                <a:solidFill>
                  <a:schemeClr val="accent6"/>
                </a:solidFill>
                <a:latin typeface="Barlow Bold"/>
                <a:ea typeface="Barlow Bold"/>
                <a:cs typeface="Barlow Bold"/>
                <a:sym typeface="Barlow Bold"/>
              </a:rPr>
              <a:t>IN</a:t>
            </a:r>
            <a:r>
              <a:rPr lang="en-US" sz="2199" dirty="0">
                <a:solidFill>
                  <a:srgbClr val="254A34"/>
                </a:solidFill>
                <a:latin typeface="Barlow Bold"/>
                <a:ea typeface="Barlow Bold"/>
                <a:cs typeface="Barlow Bold"/>
                <a:sym typeface="Barlow Bold"/>
              </a:rPr>
              <a:t> × </a:t>
            </a:r>
            <a:r>
              <a:rPr lang="en-US" sz="2199" dirty="0">
                <a:latin typeface="Barlow Bold"/>
                <a:ea typeface="Barlow Bold"/>
                <a:cs typeface="Barlow Bold"/>
                <a:sym typeface="Barlow Bold"/>
              </a:rPr>
              <a:t>AEL</a:t>
            </a:r>
            <a:r>
              <a:rPr lang="en-US" sz="2199" dirty="0">
                <a:solidFill>
                  <a:srgbClr val="254A34"/>
                </a:solidFill>
                <a:latin typeface="Barlow Bold"/>
                <a:ea typeface="Barlow Bold"/>
                <a:cs typeface="Barlow Bold"/>
                <a:sym typeface="Barlow Bold"/>
              </a:rPr>
              <a:t> × IELC02eq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73902" y="6722045"/>
            <a:ext cx="4620019" cy="7954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00" spc="116" dirty="0">
                <a:solidFill>
                  <a:schemeClr val="accent6"/>
                </a:solidFill>
                <a:latin typeface="Barlow Bold" panose="020B0604020202020204" charset="0"/>
                <a:ea typeface="Roboto"/>
                <a:cs typeface="Roboto"/>
                <a:sym typeface="Roboto"/>
              </a:rPr>
              <a:t>AEL</a:t>
            </a:r>
            <a:r>
              <a:rPr lang="en-US" sz="2000" spc="116" dirty="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 (Listrik/</a:t>
            </a:r>
            <a:r>
              <a:rPr lang="en-US" sz="2000" spc="116" dirty="0" err="1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penduduk</a:t>
            </a:r>
            <a:r>
              <a:rPr lang="en-US" sz="2000" spc="116" dirty="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</a:p>
          <a:p>
            <a:pPr algn="l">
              <a:lnSpc>
                <a:spcPts val="3293"/>
              </a:lnSpc>
            </a:pPr>
            <a:r>
              <a:rPr lang="en-US" sz="2000" dirty="0">
                <a:solidFill>
                  <a:srgbClr val="00B050"/>
                </a:solidFill>
                <a:latin typeface="Barlow Bold"/>
                <a:ea typeface="Barlow Bold"/>
                <a:cs typeface="Barlow Bold"/>
                <a:sym typeface="Barlow Bold"/>
              </a:rPr>
              <a:t>IELCO2eq</a:t>
            </a:r>
            <a:r>
              <a:rPr lang="en-US" sz="2000" dirty="0">
                <a:solidFill>
                  <a:srgbClr val="254A34"/>
                </a:solidFill>
                <a:latin typeface="Barlow Bold"/>
                <a:ea typeface="Barlow Bold"/>
                <a:cs typeface="Barlow Bold"/>
                <a:sym typeface="Barlow Bold"/>
              </a:rPr>
              <a:t> </a:t>
            </a: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(Faktor </a:t>
            </a:r>
            <a:r>
              <a:rPr lang="en-US" sz="2000" dirty="0" err="1"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Emisi</a:t>
            </a: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Grid PLN)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30044" y="4552949"/>
            <a:ext cx="3719777" cy="495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 err="1">
                <a:solidFill>
                  <a:srgbClr val="111111"/>
                </a:solidFill>
                <a:latin typeface="Inter 18pt SemiBold" panose="02000503000000020004" pitchFamily="2" charset="0"/>
                <a:ea typeface="Inter 18pt SemiBold" panose="02000503000000020004" pitchFamily="2" charset="0"/>
                <a:cs typeface="Barlow Bold"/>
                <a:sym typeface="Barlow Bold"/>
              </a:rPr>
              <a:t>Mobilitas</a:t>
            </a:r>
            <a:r>
              <a:rPr lang="en-US" sz="3000" dirty="0">
                <a:solidFill>
                  <a:srgbClr val="111111"/>
                </a:solidFill>
                <a:latin typeface="Inter 18pt SemiBold" panose="02000503000000020004" pitchFamily="2" charset="0"/>
                <a:ea typeface="Inter 18pt SemiBold" panose="02000503000000020004" pitchFamily="2" charset="0"/>
                <a:cs typeface="Barlow Bold"/>
                <a:sym typeface="Barlow Bold"/>
              </a:rPr>
              <a:t> (Mobility)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23815" y="5394325"/>
            <a:ext cx="2924175" cy="6450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000" dirty="0">
                <a:solidFill>
                  <a:srgbClr val="111111"/>
                </a:solidFill>
                <a:latin typeface="Barlow Bold"/>
                <a:ea typeface="Barlow Bold"/>
                <a:cs typeface="Barlow Bold"/>
                <a:sym typeface="Barlow Bold"/>
              </a:rPr>
              <a:t>CFCU = CN × AF × Distance</a:t>
            </a:r>
          </a:p>
          <a:p>
            <a:pPr algn="ctr">
              <a:lnSpc>
                <a:spcPts val="2580"/>
              </a:lnSpc>
            </a:pPr>
            <a:r>
              <a:rPr lang="en-US" sz="1899" dirty="0">
                <a:solidFill>
                  <a:srgbClr val="111111"/>
                </a:solidFill>
                <a:latin typeface="Barlow Medium"/>
                <a:ea typeface="Barlow Medium"/>
                <a:cs typeface="Barlow Medium"/>
                <a:sym typeface="Barlow Medium"/>
              </a:rPr>
              <a:t>× Emission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17359" y="6722045"/>
            <a:ext cx="2914650" cy="80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5"/>
              </a:lnSpc>
            </a:pPr>
            <a:r>
              <a:rPr lang="en-US" sz="2199" dirty="0">
                <a:solidFill>
                  <a:schemeClr val="accent6"/>
                </a:solidFill>
                <a:latin typeface="Barlow Bold"/>
                <a:ea typeface="Barlow Bold"/>
                <a:cs typeface="Barlow Bold"/>
                <a:sym typeface="Barlow Bold"/>
              </a:rPr>
              <a:t>CN </a:t>
            </a:r>
            <a:r>
              <a:rPr lang="en-US" sz="2199" dirty="0">
                <a:solidFill>
                  <a:srgbClr val="111111"/>
                </a:solidFill>
                <a:latin typeface="Barlow Bold"/>
                <a:ea typeface="Barlow Bold"/>
                <a:cs typeface="Barlow Bold"/>
                <a:sym typeface="Barlow Bold"/>
              </a:rPr>
              <a:t>(</a:t>
            </a:r>
            <a:r>
              <a:rPr lang="en-US" sz="2199" dirty="0" err="1">
                <a:solidFill>
                  <a:srgbClr val="111111"/>
                </a:solidFill>
                <a:latin typeface="Barlow Bold"/>
                <a:ea typeface="Barlow Bold"/>
                <a:cs typeface="Barlow Bold"/>
                <a:sym typeface="Barlow Bold"/>
              </a:rPr>
              <a:t>Jumlah</a:t>
            </a:r>
            <a:r>
              <a:rPr lang="en-US" sz="2199" dirty="0">
                <a:solidFill>
                  <a:srgbClr val="111111"/>
                </a:solidFill>
                <a:latin typeface="Barlow Bold"/>
                <a:ea typeface="Barlow Bold"/>
                <a:cs typeface="Barlow Bold"/>
                <a:sym typeface="Barlow Bold"/>
              </a:rPr>
              <a:t> </a:t>
            </a:r>
            <a:r>
              <a:rPr lang="en-US" sz="2199" dirty="0" err="1">
                <a:solidFill>
                  <a:srgbClr val="111111"/>
                </a:solidFill>
                <a:latin typeface="Barlow Bold"/>
                <a:ea typeface="Barlow Bold"/>
                <a:cs typeface="Barlow Bold"/>
                <a:sym typeface="Barlow Bold"/>
              </a:rPr>
              <a:t>kendaraan</a:t>
            </a:r>
            <a:r>
              <a:rPr lang="en-US" sz="2199" dirty="0">
                <a:solidFill>
                  <a:srgbClr val="111111"/>
                </a:solidFill>
                <a:latin typeface="Barlow Bold"/>
                <a:ea typeface="Barlow Bold"/>
                <a:cs typeface="Barlow Bold"/>
                <a:sym typeface="Barlow Bold"/>
              </a:rPr>
              <a:t>)</a:t>
            </a:r>
          </a:p>
          <a:p>
            <a:pPr algn="l">
              <a:lnSpc>
                <a:spcPts val="3258"/>
              </a:lnSpc>
            </a:pPr>
            <a:r>
              <a:rPr lang="en-US" sz="2236" b="1" spc="76" dirty="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FF</a:t>
            </a:r>
            <a:r>
              <a:rPr lang="en-US" sz="2236" spc="76" dirty="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 (Faktor BBM)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3AF051-F1EB-F342-81E8-F1AEA54F2B92}"/>
              </a:ext>
            </a:extLst>
          </p:cNvPr>
          <p:cNvSpPr/>
          <p:nvPr/>
        </p:nvSpPr>
        <p:spPr>
          <a:xfrm>
            <a:off x="1583082" y="4383798"/>
            <a:ext cx="4572000" cy="3922001"/>
          </a:xfrm>
          <a:prstGeom prst="roundRect">
            <a:avLst>
              <a:gd name="adj" fmla="val 3361"/>
            </a:avLst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D52A29-3A87-CCEF-B39C-AF411A030E13}"/>
              </a:ext>
            </a:extLst>
          </p:cNvPr>
          <p:cNvSpPr/>
          <p:nvPr/>
        </p:nvSpPr>
        <p:spPr>
          <a:xfrm>
            <a:off x="6837951" y="4307740"/>
            <a:ext cx="4572000" cy="3922001"/>
          </a:xfrm>
          <a:prstGeom prst="roundRect">
            <a:avLst>
              <a:gd name="adj" fmla="val 3361"/>
            </a:avLst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5012560-020F-91C9-039A-B56DE612B1AB}"/>
              </a:ext>
            </a:extLst>
          </p:cNvPr>
          <p:cNvSpPr/>
          <p:nvPr/>
        </p:nvSpPr>
        <p:spPr>
          <a:xfrm>
            <a:off x="12099170" y="4307739"/>
            <a:ext cx="4572000" cy="3922001"/>
          </a:xfrm>
          <a:prstGeom prst="roundRect">
            <a:avLst>
              <a:gd name="adj" fmla="val 3361"/>
            </a:avLst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EE491CC6-7ED0-CC7E-9508-4B8C7FEC5FD9}"/>
              </a:ext>
            </a:extLst>
          </p:cNvPr>
          <p:cNvSpPr/>
          <p:nvPr/>
        </p:nvSpPr>
        <p:spPr>
          <a:xfrm>
            <a:off x="863600" y="479072"/>
            <a:ext cx="833188" cy="848215"/>
          </a:xfrm>
          <a:custGeom>
            <a:avLst/>
            <a:gdLst/>
            <a:ahLst/>
            <a:cxnLst/>
            <a:rect l="l" t="t" r="r" b="b"/>
            <a:pathLst>
              <a:path w="274846" h="279803">
                <a:moveTo>
                  <a:pt x="83461" y="0"/>
                </a:moveTo>
                <a:lnTo>
                  <a:pt x="191385" y="0"/>
                </a:lnTo>
                <a:cubicBezTo>
                  <a:pt x="237479" y="0"/>
                  <a:pt x="274846" y="37367"/>
                  <a:pt x="274846" y="83461"/>
                </a:cubicBezTo>
                <a:lnTo>
                  <a:pt x="274846" y="196341"/>
                </a:lnTo>
                <a:cubicBezTo>
                  <a:pt x="274846" y="242436"/>
                  <a:pt x="237479" y="279803"/>
                  <a:pt x="191385" y="279803"/>
                </a:cubicBezTo>
                <a:lnTo>
                  <a:pt x="83461" y="279803"/>
                </a:lnTo>
                <a:cubicBezTo>
                  <a:pt x="37367" y="279803"/>
                  <a:pt x="0" y="242436"/>
                  <a:pt x="0" y="196341"/>
                </a:cubicBezTo>
                <a:lnTo>
                  <a:pt x="0" y="83461"/>
                </a:lnTo>
                <a:cubicBezTo>
                  <a:pt x="0" y="37367"/>
                  <a:pt x="37367" y="0"/>
                  <a:pt x="83461" y="0"/>
                </a:cubicBezTo>
                <a:close/>
              </a:path>
            </a:pathLst>
          </a:custGeom>
          <a:solidFill>
            <a:srgbClr val="092845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5EADC3CC-179D-FE13-212E-2F5C8155B7CD}"/>
              </a:ext>
            </a:extLst>
          </p:cNvPr>
          <p:cNvSpPr txBox="1"/>
          <p:nvPr/>
        </p:nvSpPr>
        <p:spPr>
          <a:xfrm>
            <a:off x="863600" y="541038"/>
            <a:ext cx="833188" cy="9637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76"/>
              </a:lnSpc>
            </a:pPr>
            <a:r>
              <a:rPr lang="en-US" sz="32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8743FDCF-426F-BEB9-B78D-0C109C8B73EA}"/>
              </a:ext>
            </a:extLst>
          </p:cNvPr>
          <p:cNvSpPr/>
          <p:nvPr/>
        </p:nvSpPr>
        <p:spPr>
          <a:xfrm>
            <a:off x="872195" y="2590800"/>
            <a:ext cx="6965043" cy="0"/>
          </a:xfrm>
          <a:prstGeom prst="line">
            <a:avLst/>
          </a:prstGeom>
          <a:ln w="9525" cap="rnd">
            <a:solidFill>
              <a:srgbClr val="9D9CA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F164C205-05A3-C3BD-2949-E61375F931AA}"/>
              </a:ext>
            </a:extLst>
          </p:cNvPr>
          <p:cNvSpPr/>
          <p:nvPr/>
        </p:nvSpPr>
        <p:spPr>
          <a:xfrm>
            <a:off x="16103600" y="8616194"/>
            <a:ext cx="628650" cy="628650"/>
          </a:xfrm>
          <a:custGeom>
            <a:avLst/>
            <a:gdLst/>
            <a:ahLst/>
            <a:cxnLst/>
            <a:rect l="l" t="t" r="r" b="b"/>
            <a:pathLst>
              <a:path w="217174" h="217174">
                <a:moveTo>
                  <a:pt x="0" y="0"/>
                </a:moveTo>
                <a:lnTo>
                  <a:pt x="217174" y="0"/>
                </a:lnTo>
                <a:lnTo>
                  <a:pt x="217174" y="217174"/>
                </a:lnTo>
                <a:lnTo>
                  <a:pt x="0" y="217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7">
            <a:extLst>
              <a:ext uri="{FF2B5EF4-FFF2-40B4-BE49-F238E27FC236}">
                <a16:creationId xmlns:a16="http://schemas.microsoft.com/office/drawing/2014/main" id="{E977EE96-B722-AF70-CCB7-89FFA0DDFE70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27">
            <a:extLst>
              <a:ext uri="{FF2B5EF4-FFF2-40B4-BE49-F238E27FC236}">
                <a16:creationId xmlns:a16="http://schemas.microsoft.com/office/drawing/2014/main" id="{B04D3C8C-8856-4704-6E03-E60911DD4ABB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948908" y="1425688"/>
            <a:ext cx="15154692" cy="731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160"/>
              </a:lnSpc>
            </a:pPr>
            <a:r>
              <a:rPr lang="en-US" sz="4400" b="1" dirty="0" err="1">
                <a:solidFill>
                  <a:srgbClr val="1D1D1D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Menentukan</a:t>
            </a:r>
            <a:r>
              <a:rPr lang="en-US" sz="4400" b="1" dirty="0">
                <a:solidFill>
                  <a:srgbClr val="1D1D1D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4400" b="1" dirty="0" err="1">
                <a:solidFill>
                  <a:srgbClr val="1D1D1D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Kapasitas</a:t>
            </a:r>
            <a:r>
              <a:rPr lang="en-US" sz="4400" b="1" dirty="0">
                <a:solidFill>
                  <a:srgbClr val="1D1D1D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&amp; </a:t>
            </a:r>
            <a:r>
              <a:rPr lang="en-US" sz="4400" b="1" dirty="0" err="1">
                <a:solidFill>
                  <a:srgbClr val="1D1D1D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Zonasi</a:t>
            </a:r>
            <a:r>
              <a:rPr lang="en-US" sz="4400" b="1" dirty="0">
                <a:solidFill>
                  <a:srgbClr val="1D1D1D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4400" b="1" dirty="0" err="1">
                <a:solidFill>
                  <a:srgbClr val="1D1D1D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Lingkungan</a:t>
            </a:r>
            <a:r>
              <a:rPr lang="en-US" sz="4400" b="1" dirty="0">
                <a:solidFill>
                  <a:srgbClr val="1D1D1D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(Supply)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7620" y="2758973"/>
            <a:ext cx="2647950" cy="438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dirty="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Biocapacity Logic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4154" y="3856326"/>
            <a:ext cx="6708896" cy="1669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34"/>
              </a:lnSpc>
            </a:pPr>
            <a:r>
              <a:rPr lang="en-US" sz="3225" dirty="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BC = Area (An) × Yield Factor (</a:t>
            </a:r>
            <a:r>
              <a:rPr lang="en-US" sz="3225" dirty="0" err="1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YFn</a:t>
            </a:r>
            <a:r>
              <a:rPr lang="en-US" sz="3225" dirty="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) x</a:t>
            </a:r>
          </a:p>
          <a:p>
            <a:pPr algn="ctr">
              <a:lnSpc>
                <a:spcPts val="4534"/>
              </a:lnSpc>
            </a:pPr>
            <a:r>
              <a:rPr lang="en-US" sz="3225" dirty="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× Equivalence Factor</a:t>
            </a:r>
          </a:p>
          <a:p>
            <a:pPr algn="ctr">
              <a:lnSpc>
                <a:spcPts val="4534"/>
              </a:lnSpc>
            </a:pPr>
            <a:r>
              <a:rPr lang="en-US" sz="3225" dirty="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(</a:t>
            </a:r>
            <a:r>
              <a:rPr lang="en-US" sz="3225" dirty="0" err="1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EQFn</a:t>
            </a:r>
            <a:r>
              <a:rPr lang="en-US" sz="3225" dirty="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7620" y="5905047"/>
            <a:ext cx="6476980" cy="1395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34"/>
              </a:lnSpc>
            </a:pPr>
            <a:r>
              <a:rPr lang="en-US" b="1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• </a:t>
            </a:r>
            <a:r>
              <a:rPr lang="en-US" b="1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An</a:t>
            </a:r>
            <a:r>
              <a:rPr lang="en-US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: Data </a:t>
            </a:r>
            <a:r>
              <a:rPr lang="en-US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Spasial</a:t>
            </a:r>
            <a:r>
              <a:rPr lang="en-US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Citra </a:t>
            </a:r>
            <a:r>
              <a:rPr lang="en-US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Satelit</a:t>
            </a:r>
            <a:endParaRPr lang="en-US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Barlow Bold"/>
              <a:sym typeface="Barlow Bold"/>
            </a:endParaRPr>
          </a:p>
          <a:p>
            <a:pPr>
              <a:lnSpc>
                <a:spcPts val="3922"/>
              </a:lnSpc>
            </a:pPr>
            <a:r>
              <a:rPr lang="en-US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• </a:t>
            </a:r>
            <a:r>
              <a:rPr lang="en-US" b="1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YFn</a:t>
            </a:r>
            <a:r>
              <a:rPr lang="en-US" b="1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, </a:t>
            </a:r>
            <a:r>
              <a:rPr lang="en-US" b="1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EQFn</a:t>
            </a:r>
            <a:r>
              <a:rPr lang="en-US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: Global Footprint Network</a:t>
            </a:r>
          </a:p>
          <a:p>
            <a:pPr>
              <a:lnSpc>
                <a:spcPts val="2659"/>
              </a:lnSpc>
            </a:pPr>
            <a:endParaRPr lang="en-US" sz="1899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Barlow Bold"/>
              <a:sym typeface="Barlow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569450" y="2669913"/>
            <a:ext cx="2695575" cy="438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Zoning Categories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06622" y="8953500"/>
            <a:ext cx="5476875" cy="271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18"/>
              </a:lnSpc>
            </a:pPr>
            <a:r>
              <a:rPr lang="en-US" sz="1656" spc="72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Sumber</a:t>
            </a:r>
            <a:r>
              <a:rPr lang="en-US" sz="1656" spc="72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: Lampiran Teknis 2 &amp; Zona </a:t>
            </a:r>
            <a:r>
              <a:rPr lang="en-US" sz="1656" spc="72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Terbatas</a:t>
            </a:r>
            <a:endParaRPr lang="en-US" sz="1656" spc="72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Roboto"/>
              <a:sym typeface="Robot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535039" y="4162166"/>
            <a:ext cx="1704975" cy="1261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653" dirty="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Zona </a:t>
            </a:r>
            <a:r>
              <a:rPr lang="en-US" sz="1653" dirty="0" err="1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Terlarang</a:t>
            </a:r>
            <a:endParaRPr lang="en-US" sz="1653" dirty="0">
              <a:solidFill>
                <a:srgbClr val="1D1D1D"/>
              </a:solidFill>
              <a:latin typeface="Barlow Bold"/>
              <a:ea typeface="Barlow Bold"/>
              <a:cs typeface="Barlow Bold"/>
              <a:sym typeface="Barlow Bold"/>
            </a:endParaRPr>
          </a:p>
          <a:p>
            <a:pPr algn="l">
              <a:lnSpc>
                <a:spcPts val="2159"/>
              </a:lnSpc>
            </a:pPr>
            <a:r>
              <a:rPr lang="en-US" sz="1653" dirty="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(Excluded Zones)</a:t>
            </a:r>
          </a:p>
          <a:p>
            <a:pPr algn="l">
              <a:lnSpc>
                <a:spcPts val="2157"/>
              </a:lnSpc>
            </a:pPr>
            <a:r>
              <a:rPr lang="en-US" sz="1200" spc="36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Area </a:t>
            </a:r>
            <a:r>
              <a:rPr lang="en-US" sz="1200" spc="36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Lindung</a:t>
            </a:r>
            <a:r>
              <a:rPr lang="en-US" sz="1200" spc="36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 (P),</a:t>
            </a:r>
          </a:p>
          <a:p>
            <a:pPr algn="l">
              <a:lnSpc>
                <a:spcPts val="1828"/>
              </a:lnSpc>
            </a:pPr>
            <a:r>
              <a:rPr lang="en-US" sz="12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Josefin Sans Regular"/>
                <a:sym typeface="Josefin Sans Regular"/>
              </a:rPr>
              <a:t>Danau &amp; Sungai,</a:t>
            </a:r>
          </a:p>
          <a:p>
            <a:pPr algn="l">
              <a:lnSpc>
                <a:spcPts val="1567"/>
              </a:lnSpc>
            </a:pPr>
            <a:r>
              <a:rPr lang="en-US" sz="12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Hutan </a:t>
            </a:r>
            <a:r>
              <a:rPr lang="en-US" sz="12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Konservasi</a:t>
            </a:r>
            <a:endParaRPr lang="en-US" sz="120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Barlow Bold"/>
              <a:sym typeface="Barlow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554180" y="5857875"/>
            <a:ext cx="1790700" cy="947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6"/>
              </a:lnSpc>
            </a:pPr>
            <a:r>
              <a:rPr lang="en-US" sz="1400" dirty="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Zona </a:t>
            </a:r>
            <a:r>
              <a:rPr lang="en-US" sz="1400" dirty="0" err="1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Terbatas</a:t>
            </a:r>
            <a:endParaRPr lang="en-US" sz="1400" dirty="0">
              <a:solidFill>
                <a:srgbClr val="1D1D1D"/>
              </a:solidFill>
              <a:latin typeface="Barlow Bold"/>
              <a:ea typeface="Barlow Bold"/>
              <a:cs typeface="Barlow Bold"/>
              <a:sym typeface="Barlow Bold"/>
            </a:endParaRPr>
          </a:p>
          <a:p>
            <a:pPr algn="l">
              <a:lnSpc>
                <a:spcPts val="1608"/>
              </a:lnSpc>
            </a:pPr>
            <a:r>
              <a:rPr lang="en-US" sz="12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Josefin Sans Regular"/>
                <a:sym typeface="Josefin Sans Regular"/>
              </a:rPr>
              <a:t>Lahan </a:t>
            </a:r>
            <a:r>
              <a:rPr lang="en-US" sz="12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Josefin Sans Regular"/>
                <a:sym typeface="Josefin Sans Regular"/>
              </a:rPr>
              <a:t>Pertanian</a:t>
            </a:r>
            <a:endParaRPr lang="en-US" sz="120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Josefin Sans Regular"/>
              <a:sym typeface="Josefin Sans Regular"/>
            </a:endParaRPr>
          </a:p>
          <a:p>
            <a:pPr algn="l">
              <a:lnSpc>
                <a:spcPts val="2126"/>
              </a:lnSpc>
            </a:pPr>
            <a:r>
              <a:rPr lang="en-US" sz="1200" spc="55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Produktif</a:t>
            </a:r>
            <a:r>
              <a:rPr lang="en-US" sz="1200" spc="55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 (S), Area</a:t>
            </a:r>
          </a:p>
          <a:p>
            <a:pPr algn="l">
              <a:lnSpc>
                <a:spcPts val="1974"/>
              </a:lnSpc>
            </a:pPr>
            <a:r>
              <a:rPr lang="en-US" sz="1200" spc="91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Risiko</a:t>
            </a:r>
            <a:r>
              <a:rPr lang="en-US" sz="1200" spc="91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 </a:t>
            </a:r>
            <a:r>
              <a:rPr lang="en-US" sz="1200" spc="91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Banjir</a:t>
            </a:r>
            <a:r>
              <a:rPr lang="en-US" sz="1200" spc="91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 (F)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41088" y="7416780"/>
            <a:ext cx="2000250" cy="710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1"/>
              </a:lnSpc>
            </a:pPr>
            <a:r>
              <a:rPr lang="en-US" sz="1700" dirty="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Scenario 4 (PSF)</a:t>
            </a:r>
          </a:p>
          <a:p>
            <a:pPr algn="l">
              <a:lnSpc>
                <a:spcPts val="1940"/>
              </a:lnSpc>
            </a:pPr>
            <a:r>
              <a:rPr lang="en-US" sz="1200" spc="5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Target </a:t>
            </a:r>
            <a:r>
              <a:rPr lang="en-US" sz="1200" spc="5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dampak</a:t>
            </a:r>
            <a:endParaRPr lang="en-US" sz="1200" spc="5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Helvetica World"/>
              <a:sym typeface="Helvetica World"/>
            </a:endParaRPr>
          </a:p>
          <a:p>
            <a:pPr algn="l">
              <a:lnSpc>
                <a:spcPts val="1826"/>
              </a:lnSpc>
            </a:pPr>
            <a:r>
              <a:rPr lang="en-US" sz="1200" spc="1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lingkungan</a:t>
            </a:r>
            <a:r>
              <a:rPr lang="en-US" sz="1200" spc="1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 </a:t>
            </a:r>
            <a:r>
              <a:rPr lang="en-US" sz="1200" spc="1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terendah</a:t>
            </a:r>
            <a:endParaRPr lang="en-US" sz="1200" spc="10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Helvetica World"/>
              <a:sym typeface="Helvetica World"/>
            </a:endParaRPr>
          </a:p>
        </p:txBody>
      </p:sp>
      <p:pic>
        <p:nvPicPr>
          <p:cNvPr id="14" name="object 2">
            <a:extLst>
              <a:ext uri="{FF2B5EF4-FFF2-40B4-BE49-F238E27FC236}">
                <a16:creationId xmlns:a16="http://schemas.microsoft.com/office/drawing/2014/main" id="{6F157739-04D1-1665-F80D-97BE3F3BECD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59900" y="3657600"/>
            <a:ext cx="5080000" cy="5295900"/>
          </a:xfrm>
          <a:prstGeom prst="rect">
            <a:avLst/>
          </a:prstGeom>
        </p:spPr>
      </p:pic>
      <p:sp>
        <p:nvSpPr>
          <p:cNvPr id="15" name="Freeform 5">
            <a:extLst>
              <a:ext uri="{FF2B5EF4-FFF2-40B4-BE49-F238E27FC236}">
                <a16:creationId xmlns:a16="http://schemas.microsoft.com/office/drawing/2014/main" id="{3176FEF4-C917-A308-18EA-CA502A30953F}"/>
              </a:ext>
            </a:extLst>
          </p:cNvPr>
          <p:cNvSpPr/>
          <p:nvPr/>
        </p:nvSpPr>
        <p:spPr>
          <a:xfrm>
            <a:off x="863600" y="479072"/>
            <a:ext cx="833188" cy="848215"/>
          </a:xfrm>
          <a:custGeom>
            <a:avLst/>
            <a:gdLst/>
            <a:ahLst/>
            <a:cxnLst/>
            <a:rect l="l" t="t" r="r" b="b"/>
            <a:pathLst>
              <a:path w="274846" h="279803">
                <a:moveTo>
                  <a:pt x="83461" y="0"/>
                </a:moveTo>
                <a:lnTo>
                  <a:pt x="191385" y="0"/>
                </a:lnTo>
                <a:cubicBezTo>
                  <a:pt x="237479" y="0"/>
                  <a:pt x="274846" y="37367"/>
                  <a:pt x="274846" y="83461"/>
                </a:cubicBezTo>
                <a:lnTo>
                  <a:pt x="274846" y="196341"/>
                </a:lnTo>
                <a:cubicBezTo>
                  <a:pt x="274846" y="242436"/>
                  <a:pt x="237479" y="279803"/>
                  <a:pt x="191385" y="279803"/>
                </a:cubicBezTo>
                <a:lnTo>
                  <a:pt x="83461" y="279803"/>
                </a:lnTo>
                <a:cubicBezTo>
                  <a:pt x="37367" y="279803"/>
                  <a:pt x="0" y="242436"/>
                  <a:pt x="0" y="196341"/>
                </a:cubicBezTo>
                <a:lnTo>
                  <a:pt x="0" y="83461"/>
                </a:lnTo>
                <a:cubicBezTo>
                  <a:pt x="0" y="37367"/>
                  <a:pt x="37367" y="0"/>
                  <a:pt x="83461" y="0"/>
                </a:cubicBezTo>
                <a:close/>
              </a:path>
            </a:pathLst>
          </a:custGeom>
          <a:solidFill>
            <a:srgbClr val="092845"/>
          </a:solidFill>
        </p:spPr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F155D133-5465-F252-BB44-99BC6AE335AC}"/>
              </a:ext>
            </a:extLst>
          </p:cNvPr>
          <p:cNvSpPr txBox="1"/>
          <p:nvPr/>
        </p:nvSpPr>
        <p:spPr>
          <a:xfrm>
            <a:off x="863600" y="541038"/>
            <a:ext cx="833188" cy="9637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76"/>
              </a:lnSpc>
            </a:pPr>
            <a:r>
              <a:rPr lang="en-US" sz="32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7" name="AutoShape 3">
            <a:extLst>
              <a:ext uri="{FF2B5EF4-FFF2-40B4-BE49-F238E27FC236}">
                <a16:creationId xmlns:a16="http://schemas.microsoft.com/office/drawing/2014/main" id="{994E64A8-5CA8-58AB-6738-FF8E8761C3A9}"/>
              </a:ext>
            </a:extLst>
          </p:cNvPr>
          <p:cNvSpPr/>
          <p:nvPr/>
        </p:nvSpPr>
        <p:spPr>
          <a:xfrm>
            <a:off x="948908" y="2362200"/>
            <a:ext cx="6965043" cy="0"/>
          </a:xfrm>
          <a:prstGeom prst="line">
            <a:avLst/>
          </a:prstGeom>
          <a:ln w="9525" cap="rnd">
            <a:solidFill>
              <a:srgbClr val="9D9CA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2F1CFAB3-67C9-9B31-21B8-9966A2C3865B}"/>
              </a:ext>
            </a:extLst>
          </p:cNvPr>
          <p:cNvSpPr/>
          <p:nvPr/>
        </p:nvSpPr>
        <p:spPr>
          <a:xfrm>
            <a:off x="16103600" y="8616194"/>
            <a:ext cx="628650" cy="628650"/>
          </a:xfrm>
          <a:custGeom>
            <a:avLst/>
            <a:gdLst/>
            <a:ahLst/>
            <a:cxnLst/>
            <a:rect l="l" t="t" r="r" b="b"/>
            <a:pathLst>
              <a:path w="217174" h="217174">
                <a:moveTo>
                  <a:pt x="0" y="0"/>
                </a:moveTo>
                <a:lnTo>
                  <a:pt x="217174" y="0"/>
                </a:lnTo>
                <a:lnTo>
                  <a:pt x="217174" y="217174"/>
                </a:lnTo>
                <a:lnTo>
                  <a:pt x="0" y="2171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>
            <a:extLst>
              <a:ext uri="{FF2B5EF4-FFF2-40B4-BE49-F238E27FC236}">
                <a16:creationId xmlns:a16="http://schemas.microsoft.com/office/drawing/2014/main" id="{FA453EA5-CEA9-FBB9-BB62-05968AFD472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9600" y="3663871"/>
            <a:ext cx="8166100" cy="4572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21180" y="1372404"/>
            <a:ext cx="14952692" cy="743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99"/>
              </a:lnSpc>
            </a:pPr>
            <a:r>
              <a:rPr lang="en-US" sz="4400" b="1" dirty="0" err="1">
                <a:solidFill>
                  <a:srgbClr val="171817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Ekosistem</a:t>
            </a:r>
            <a:r>
              <a:rPr lang="en-US" sz="4400" b="1" dirty="0">
                <a:solidFill>
                  <a:srgbClr val="171817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Data: Dari 'Scraping' </a:t>
            </a:r>
            <a:r>
              <a:rPr lang="en-US" sz="4400" b="1" dirty="0" err="1">
                <a:solidFill>
                  <a:srgbClr val="171817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Menjadi</a:t>
            </a:r>
            <a:r>
              <a:rPr lang="en-US" sz="4400" b="1" dirty="0">
                <a:solidFill>
                  <a:srgbClr val="171817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'Intelligence'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6813" y="3314621"/>
            <a:ext cx="2543175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171817"/>
                </a:solidFill>
                <a:latin typeface="Barlow Bold"/>
                <a:ea typeface="Barlow Bold"/>
                <a:cs typeface="Barlow Bold"/>
                <a:sym typeface="Barlow Bold"/>
              </a:rPr>
              <a:t>Inputs (Sources)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3030" y="4152821"/>
            <a:ext cx="83185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2400" b="1" dirty="0">
                <a:solidFill>
                  <a:srgbClr val="C1773B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BPS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3030" y="4495019"/>
            <a:ext cx="2438400" cy="413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2461" spc="98" dirty="0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</a:t>
            </a:r>
            <a:r>
              <a:rPr lang="en-US" sz="2461" spc="98" dirty="0" err="1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Demografi</a:t>
            </a:r>
            <a:r>
              <a:rPr lang="en-US" sz="2461" spc="98" dirty="0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- IN)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69189" y="3324146"/>
            <a:ext cx="3590925" cy="438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171817"/>
                </a:solidFill>
                <a:latin typeface="Barlow Bold"/>
                <a:ea typeface="Barlow Bold"/>
                <a:cs typeface="Barlow Bold"/>
                <a:sym typeface="Barlow Bold"/>
              </a:rPr>
              <a:t>Processing (The Engine)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85801" y="3340021"/>
            <a:ext cx="942975" cy="41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171817"/>
                </a:solidFill>
                <a:latin typeface="Barlow Bold"/>
                <a:ea typeface="Barlow Bold"/>
                <a:cs typeface="Barlow Bold"/>
                <a:sym typeface="Barlow Bold"/>
              </a:rPr>
              <a:t>Output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74785" y="5133896"/>
            <a:ext cx="2695575" cy="68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2100" b="1" dirty="0">
                <a:solidFill>
                  <a:srgbClr val="C1773B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PLN/</a:t>
            </a:r>
            <a:r>
              <a:rPr lang="en-US" sz="2400" b="1" dirty="0">
                <a:solidFill>
                  <a:srgbClr val="C1773B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Pertamina</a:t>
            </a:r>
            <a:endParaRPr lang="en-US" sz="2100" b="1" dirty="0">
              <a:solidFill>
                <a:srgbClr val="C1773B"/>
              </a:solidFill>
              <a:latin typeface="Inter" panose="02000503000000020004" pitchFamily="2" charset="0"/>
              <a:ea typeface="Inter" panose="02000503000000020004" pitchFamily="2" charset="0"/>
              <a:cs typeface="Barlow Bold"/>
              <a:sym typeface="Barlow Bold"/>
            </a:endParaRPr>
          </a:p>
          <a:p>
            <a:pPr algn="l">
              <a:lnSpc>
                <a:spcPts val="2863"/>
              </a:lnSpc>
            </a:pPr>
            <a:r>
              <a:rPr lang="en-US" sz="2318" spc="211" dirty="0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(Energi AEL, AG)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68" y="6106207"/>
            <a:ext cx="2411015" cy="6491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2400" b="1" dirty="0">
                <a:solidFill>
                  <a:srgbClr val="C1773B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Satellite/KLHK</a:t>
            </a:r>
          </a:p>
          <a:p>
            <a:pPr algn="l">
              <a:lnSpc>
                <a:spcPts val="2696"/>
              </a:lnSpc>
            </a:pPr>
            <a:r>
              <a:rPr lang="en-US" sz="2138" spc="198" dirty="0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</a:t>
            </a:r>
            <a:r>
              <a:rPr lang="en-US" sz="2138" spc="198" dirty="0" err="1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Biofisik</a:t>
            </a:r>
            <a:r>
              <a:rPr lang="en-US" sz="2138" spc="198" dirty="0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44608" y="7083445"/>
            <a:ext cx="2428875" cy="1052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2400" b="1" dirty="0">
                <a:solidFill>
                  <a:srgbClr val="C1773B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Global Footprint</a:t>
            </a:r>
          </a:p>
          <a:p>
            <a:pPr algn="l">
              <a:lnSpc>
                <a:spcPts val="2249"/>
              </a:lnSpc>
            </a:pPr>
            <a:r>
              <a:rPr lang="en-US" sz="2400" b="1" dirty="0">
                <a:solidFill>
                  <a:srgbClr val="C1773B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Network</a:t>
            </a:r>
          </a:p>
          <a:p>
            <a:pPr algn="l">
              <a:lnSpc>
                <a:spcPts val="3215"/>
              </a:lnSpc>
            </a:pPr>
            <a:r>
              <a:rPr lang="en-US" sz="2430" spc="80" dirty="0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</a:t>
            </a:r>
            <a:r>
              <a:rPr lang="en-US" sz="2430" spc="80" dirty="0" err="1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Standar</a:t>
            </a:r>
            <a:r>
              <a:rPr lang="en-US" sz="2430" spc="80" dirty="0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Global)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14750" y="4965439"/>
            <a:ext cx="2314575" cy="178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220">
                <a:solidFill>
                  <a:srgbClr val="267C55"/>
                </a:solidFill>
                <a:latin typeface="Barlow Bold"/>
                <a:ea typeface="Barlow Bold"/>
                <a:cs typeface="Barlow Bold"/>
                <a:sym typeface="Barlow Bold"/>
              </a:rPr>
              <a:t>Cleaning</a:t>
            </a:r>
          </a:p>
          <a:p>
            <a:pPr algn="l">
              <a:lnSpc>
                <a:spcPts val="3538"/>
              </a:lnSpc>
            </a:pPr>
            <a:r>
              <a:rPr lang="en-US" sz="2220">
                <a:solidFill>
                  <a:srgbClr val="267C55"/>
                </a:solidFill>
                <a:latin typeface="Barlow Bold"/>
                <a:ea typeface="Barlow Bold"/>
                <a:cs typeface="Barlow Bold"/>
                <a:sym typeface="Barlow Bold"/>
              </a:rPr>
              <a:t>Digitization</a:t>
            </a:r>
          </a:p>
          <a:p>
            <a:pPr algn="l">
              <a:lnSpc>
                <a:spcPts val="4091"/>
              </a:lnSpc>
            </a:pPr>
            <a:r>
              <a:rPr lang="en-US" sz="2566" spc="30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(PDF to Vector)</a:t>
            </a:r>
          </a:p>
          <a:p>
            <a:pPr algn="l">
              <a:lnSpc>
                <a:spcPts val="3188"/>
              </a:lnSpc>
            </a:pPr>
            <a:r>
              <a:rPr lang="en-US" sz="2000">
                <a:solidFill>
                  <a:srgbClr val="267C55"/>
                </a:solidFill>
                <a:latin typeface="Barlow Bold"/>
                <a:ea typeface="Barlow Bold"/>
                <a:cs typeface="Barlow Bold"/>
                <a:sym typeface="Barlow Bold"/>
              </a:rPr>
              <a:t>Calculations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13588" y="9025675"/>
            <a:ext cx="2609850" cy="291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6"/>
              </a:lnSpc>
            </a:pPr>
            <a:r>
              <a:rPr lang="en-US" sz="1661" spc="66" dirty="0" err="1">
                <a:solidFill>
                  <a:srgbClr val="323231"/>
                </a:solidFill>
                <a:latin typeface="Roboto"/>
                <a:ea typeface="Roboto"/>
                <a:cs typeface="Roboto"/>
                <a:sym typeface="Roboto"/>
              </a:rPr>
              <a:t>Sumber</a:t>
            </a:r>
            <a:r>
              <a:rPr lang="en-US" sz="1661" spc="66" dirty="0">
                <a:solidFill>
                  <a:srgbClr val="323231"/>
                </a:solidFill>
                <a:latin typeface="Roboto"/>
                <a:ea typeface="Roboto"/>
                <a:cs typeface="Roboto"/>
                <a:sym typeface="Roboto"/>
              </a:rPr>
              <a:t>: Lampiran Teknis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979528" y="4956096"/>
            <a:ext cx="2305050" cy="34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000" dirty="0">
                <a:solidFill>
                  <a:srgbClr val="171817"/>
                </a:solidFill>
                <a:latin typeface="Barlow Bold"/>
                <a:ea typeface="Barlow Bold"/>
                <a:cs typeface="Barlow Bold"/>
                <a:sym typeface="Barlow Bold"/>
              </a:rPr>
              <a:t>Vector Tiles (MVT)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77900" y="5775246"/>
            <a:ext cx="1838325" cy="28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171817"/>
                </a:solidFill>
                <a:latin typeface="Barlow Bold"/>
                <a:ea typeface="Barlow Bold"/>
                <a:cs typeface="Barlow Bold"/>
                <a:sym typeface="Barlow Bold"/>
              </a:rPr>
              <a:t>Database</a:t>
            </a:r>
          </a:p>
        </p:txBody>
      </p:sp>
      <p:pic>
        <p:nvPicPr>
          <p:cNvPr id="19" name="object 3">
            <a:extLst>
              <a:ext uri="{FF2B5EF4-FFF2-40B4-BE49-F238E27FC236}">
                <a16:creationId xmlns:a16="http://schemas.microsoft.com/office/drawing/2014/main" id="{5034370E-04C0-E6FE-8972-326647F74FF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63500" y="6203871"/>
            <a:ext cx="736600" cy="546100"/>
          </a:xfrm>
          <a:prstGeom prst="rect">
            <a:avLst/>
          </a:prstGeom>
        </p:spPr>
      </p:pic>
      <p:pic>
        <p:nvPicPr>
          <p:cNvPr id="20" name="object 4">
            <a:extLst>
              <a:ext uri="{FF2B5EF4-FFF2-40B4-BE49-F238E27FC236}">
                <a16:creationId xmlns:a16="http://schemas.microsoft.com/office/drawing/2014/main" id="{3CF07739-0809-D124-884E-248272A86C5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763500" y="5848271"/>
            <a:ext cx="736600" cy="203200"/>
          </a:xfrm>
          <a:prstGeom prst="rect">
            <a:avLst/>
          </a:prstGeom>
        </p:spPr>
      </p:pic>
      <p:pic>
        <p:nvPicPr>
          <p:cNvPr id="21" name="object 5">
            <a:extLst>
              <a:ext uri="{FF2B5EF4-FFF2-40B4-BE49-F238E27FC236}">
                <a16:creationId xmlns:a16="http://schemas.microsoft.com/office/drawing/2014/main" id="{64652841-F7F1-BB4D-97BC-8F6D271159A3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50800" y="5149771"/>
            <a:ext cx="749300" cy="5588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87C66A92-126D-CCB1-2892-EEA94F8060F0}"/>
              </a:ext>
            </a:extLst>
          </p:cNvPr>
          <p:cNvSpPr txBox="1"/>
          <p:nvPr/>
        </p:nvSpPr>
        <p:spPr>
          <a:xfrm>
            <a:off x="13430253" y="6591839"/>
            <a:ext cx="1838325" cy="28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171817"/>
                </a:solidFill>
                <a:latin typeface="Barlow Bold"/>
                <a:ea typeface="Barlow Bold"/>
                <a:cs typeface="Barlow Bold"/>
                <a:sym typeface="Barlow Bold"/>
              </a:rPr>
              <a:t>API</a:t>
            </a:r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96801EBE-4909-6910-726F-CEC4D70A5AA1}"/>
              </a:ext>
            </a:extLst>
          </p:cNvPr>
          <p:cNvSpPr/>
          <p:nvPr/>
        </p:nvSpPr>
        <p:spPr>
          <a:xfrm>
            <a:off x="863600" y="479072"/>
            <a:ext cx="833188" cy="848215"/>
          </a:xfrm>
          <a:custGeom>
            <a:avLst/>
            <a:gdLst/>
            <a:ahLst/>
            <a:cxnLst/>
            <a:rect l="l" t="t" r="r" b="b"/>
            <a:pathLst>
              <a:path w="274846" h="279803">
                <a:moveTo>
                  <a:pt x="83461" y="0"/>
                </a:moveTo>
                <a:lnTo>
                  <a:pt x="191385" y="0"/>
                </a:lnTo>
                <a:cubicBezTo>
                  <a:pt x="237479" y="0"/>
                  <a:pt x="274846" y="37367"/>
                  <a:pt x="274846" y="83461"/>
                </a:cubicBezTo>
                <a:lnTo>
                  <a:pt x="274846" y="196341"/>
                </a:lnTo>
                <a:cubicBezTo>
                  <a:pt x="274846" y="242436"/>
                  <a:pt x="237479" y="279803"/>
                  <a:pt x="191385" y="279803"/>
                </a:cubicBezTo>
                <a:lnTo>
                  <a:pt x="83461" y="279803"/>
                </a:lnTo>
                <a:cubicBezTo>
                  <a:pt x="37367" y="279803"/>
                  <a:pt x="0" y="242436"/>
                  <a:pt x="0" y="196341"/>
                </a:cubicBezTo>
                <a:lnTo>
                  <a:pt x="0" y="83461"/>
                </a:lnTo>
                <a:cubicBezTo>
                  <a:pt x="0" y="37367"/>
                  <a:pt x="37367" y="0"/>
                  <a:pt x="83461" y="0"/>
                </a:cubicBezTo>
                <a:close/>
              </a:path>
            </a:pathLst>
          </a:custGeom>
          <a:solidFill>
            <a:srgbClr val="092845"/>
          </a:solidFill>
        </p:spPr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5F24BE15-385D-2119-ED9C-19A0E096B0A2}"/>
              </a:ext>
            </a:extLst>
          </p:cNvPr>
          <p:cNvSpPr txBox="1"/>
          <p:nvPr/>
        </p:nvSpPr>
        <p:spPr>
          <a:xfrm>
            <a:off x="863600" y="541038"/>
            <a:ext cx="833188" cy="9637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76"/>
              </a:lnSpc>
            </a:pPr>
            <a:r>
              <a:rPr lang="en-US" sz="32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id="25" name="Freeform 27">
            <a:extLst>
              <a:ext uri="{FF2B5EF4-FFF2-40B4-BE49-F238E27FC236}">
                <a16:creationId xmlns:a16="http://schemas.microsoft.com/office/drawing/2014/main" id="{A96F693E-45A1-D1C5-50D9-7AB39E061D54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AutoShape 3">
            <a:extLst>
              <a:ext uri="{FF2B5EF4-FFF2-40B4-BE49-F238E27FC236}">
                <a16:creationId xmlns:a16="http://schemas.microsoft.com/office/drawing/2014/main" id="{A7007B4A-E61B-7F29-4C7B-9791EEE88D0B}"/>
              </a:ext>
            </a:extLst>
          </p:cNvPr>
          <p:cNvSpPr/>
          <p:nvPr/>
        </p:nvSpPr>
        <p:spPr>
          <a:xfrm>
            <a:off x="937078" y="2286000"/>
            <a:ext cx="6965043" cy="0"/>
          </a:xfrm>
          <a:prstGeom prst="line">
            <a:avLst/>
          </a:prstGeom>
          <a:ln w="9525" cap="rnd">
            <a:solidFill>
              <a:srgbClr val="9D9CA2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27">
            <a:extLst>
              <a:ext uri="{FF2B5EF4-FFF2-40B4-BE49-F238E27FC236}">
                <a16:creationId xmlns:a16="http://schemas.microsoft.com/office/drawing/2014/main" id="{0F9FB161-1B6E-462A-CD81-726AE8241D99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869312" y="1386732"/>
            <a:ext cx="8305800" cy="673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40"/>
              </a:lnSpc>
            </a:pPr>
            <a:r>
              <a:rPr lang="en-US" sz="4100" b="1" dirty="0" err="1">
                <a:solidFill>
                  <a:srgbClr val="151515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Standar</a:t>
            </a:r>
            <a:r>
              <a:rPr lang="en-US" sz="4100" b="1" dirty="0">
                <a:solidFill>
                  <a:srgbClr val="151515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Data &amp; Novelty </a:t>
            </a:r>
            <a:r>
              <a:rPr lang="en-US" sz="4100" b="1" dirty="0" err="1">
                <a:solidFill>
                  <a:srgbClr val="151515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Ilmiah</a:t>
            </a:r>
            <a:endParaRPr lang="en-US" sz="4100" b="1" dirty="0">
              <a:solidFill>
                <a:srgbClr val="151515"/>
              </a:solidFill>
              <a:latin typeface="Aileron Heavy" panose="020B0604020202020204" charset="0"/>
              <a:ea typeface="Inter ExtraBold" panose="02000503000000020004" pitchFamily="2" charset="0"/>
              <a:cs typeface="Barlow Bold"/>
              <a:sym typeface="Barlow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033503" y="4889711"/>
            <a:ext cx="2543175" cy="2112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285" spc="100" dirty="0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Political Economy</a:t>
            </a:r>
          </a:p>
          <a:p>
            <a:pPr algn="l">
              <a:lnSpc>
                <a:spcPts val="2671"/>
              </a:lnSpc>
            </a:pPr>
            <a:r>
              <a:rPr lang="en-US" sz="2100" dirty="0">
                <a:solidFill>
                  <a:srgbClr val="151515"/>
                </a:solidFill>
                <a:latin typeface="Barlow Bold"/>
                <a:ea typeface="Barlow Bold"/>
                <a:cs typeface="Barlow Bold"/>
                <a:sym typeface="Barlow Bold"/>
              </a:rPr>
              <a:t>Analysis:</a:t>
            </a:r>
          </a:p>
          <a:p>
            <a:pPr algn="l">
              <a:lnSpc>
                <a:spcPts val="2671"/>
              </a:lnSpc>
            </a:pPr>
            <a:r>
              <a:rPr lang="en-US" sz="2100" dirty="0" err="1">
                <a:solidFill>
                  <a:srgbClr val="151515"/>
                </a:solidFill>
                <a:latin typeface="Barlow Bold"/>
                <a:ea typeface="Barlow Bold"/>
                <a:cs typeface="Barlow Bold"/>
                <a:sym typeface="Barlow Bold"/>
              </a:rPr>
              <a:t>Membongkar</a:t>
            </a:r>
            <a:endParaRPr lang="en-US" sz="2100" dirty="0">
              <a:solidFill>
                <a:srgbClr val="151515"/>
              </a:solidFill>
              <a:latin typeface="Barlow Bold"/>
              <a:ea typeface="Barlow Bold"/>
              <a:cs typeface="Barlow Bold"/>
              <a:sym typeface="Barlow Bold"/>
            </a:endParaRPr>
          </a:p>
          <a:p>
            <a:pPr algn="l">
              <a:lnSpc>
                <a:spcPts val="2933"/>
              </a:lnSpc>
            </a:pPr>
            <a:r>
              <a:rPr lang="en-US" sz="2306" spc="89" dirty="0" err="1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kontrol</a:t>
            </a:r>
            <a:r>
              <a:rPr lang="en-US" sz="2306" spc="89" dirty="0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306" spc="89" dirty="0" err="1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aktor</a:t>
            </a:r>
            <a:r>
              <a:rPr lang="en-US" sz="2306" spc="89" dirty="0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 data</a:t>
            </a:r>
          </a:p>
          <a:p>
            <a:pPr algn="l">
              <a:lnSpc>
                <a:spcPts val="2798"/>
              </a:lnSpc>
            </a:pPr>
            <a:r>
              <a:rPr lang="en-US" sz="2199" dirty="0" err="1">
                <a:solidFill>
                  <a:srgbClr val="151515"/>
                </a:solidFill>
                <a:latin typeface="Barlow Bold"/>
                <a:ea typeface="Barlow Bold"/>
                <a:cs typeface="Barlow Bold"/>
                <a:sym typeface="Barlow Bold"/>
              </a:rPr>
              <a:t>terhadap</a:t>
            </a:r>
            <a:endParaRPr lang="en-US" sz="2199" dirty="0">
              <a:solidFill>
                <a:srgbClr val="151515"/>
              </a:solidFill>
              <a:latin typeface="Barlow Bold"/>
              <a:ea typeface="Barlow Bold"/>
              <a:cs typeface="Barlow Bold"/>
              <a:sym typeface="Barlow Bold"/>
            </a:endParaRPr>
          </a:p>
          <a:p>
            <a:pPr algn="l">
              <a:lnSpc>
                <a:spcPts val="2798"/>
              </a:lnSpc>
            </a:pPr>
            <a:r>
              <a:rPr lang="en-US" sz="2199" dirty="0" err="1">
                <a:solidFill>
                  <a:srgbClr val="151515"/>
                </a:solidFill>
                <a:latin typeface="Barlow Bold"/>
                <a:ea typeface="Barlow Bold"/>
                <a:cs typeface="Barlow Bold"/>
                <a:sym typeface="Barlow Bold"/>
              </a:rPr>
              <a:t>perizinan</a:t>
            </a:r>
            <a:r>
              <a:rPr lang="en-US" sz="2199" dirty="0">
                <a:solidFill>
                  <a:srgbClr val="151515"/>
                </a:solidFill>
                <a:latin typeface="Barlow Bold"/>
                <a:ea typeface="Barlow Bold"/>
                <a:cs typeface="Barlow Bold"/>
                <a:sym typeface="Barlow Bold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21562" y="9144000"/>
            <a:ext cx="2619375" cy="290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2"/>
              </a:lnSpc>
            </a:pPr>
            <a:r>
              <a:rPr lang="en-US" sz="1680" spc="62" dirty="0" err="1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Sumber</a:t>
            </a:r>
            <a:r>
              <a:rPr lang="en-US" sz="1680" spc="62" dirty="0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: Lampiran Teknis</a:t>
            </a:r>
          </a:p>
        </p:txBody>
      </p:sp>
      <p:graphicFrame>
        <p:nvGraphicFramePr>
          <p:cNvPr id="20" name="object 4">
            <a:extLst>
              <a:ext uri="{FF2B5EF4-FFF2-40B4-BE49-F238E27FC236}">
                <a16:creationId xmlns:a16="http://schemas.microsoft.com/office/drawing/2014/main" id="{FB8146D0-3877-DFEF-2BE4-4EC8C9DF3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147109"/>
              </p:ext>
            </p:extLst>
          </p:nvPr>
        </p:nvGraphicFramePr>
        <p:xfrm>
          <a:off x="885822" y="2414436"/>
          <a:ext cx="12674600" cy="6323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30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 dirty="0">
                        <a:latin typeface="Roboto" panose="02000000000000000000" pitchFamily="2" charset="0"/>
                        <a:ea typeface="Roboto" panose="02000000000000000000" pitchFamily="2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34465" marR="377190" indent="-1026160">
                        <a:lnSpc>
                          <a:spcPts val="3450"/>
                        </a:lnSpc>
                        <a:spcBef>
                          <a:spcPts val="2505"/>
                        </a:spcBef>
                      </a:pPr>
                      <a:r>
                        <a:rPr sz="305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Government</a:t>
                      </a:r>
                      <a:r>
                        <a:rPr sz="3050" b="1" spc="33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305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Status</a:t>
                      </a:r>
                      <a:r>
                        <a:rPr sz="3050" b="1" spc="5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3050" b="1" spc="-25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Quo </a:t>
                      </a:r>
                      <a:r>
                        <a:rPr sz="305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(Permen</a:t>
                      </a:r>
                      <a:r>
                        <a:rPr sz="3050" b="1" spc="-13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3050" b="1" spc="-25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LH)</a:t>
                      </a:r>
                      <a:endParaRPr sz="3050" b="1" dirty="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318135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065" marR="762000" indent="-177800" algn="just">
                        <a:lnSpc>
                          <a:spcPts val="3450"/>
                        </a:lnSpc>
                        <a:spcBef>
                          <a:spcPts val="2505"/>
                        </a:spcBef>
                      </a:pPr>
                      <a:r>
                        <a:rPr lang="en-US" sz="305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I</a:t>
                      </a:r>
                      <a:r>
                        <a:rPr sz="305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ntelligence</a:t>
                      </a:r>
                      <a:r>
                        <a:rPr lang="en-US" sz="305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3050" b="1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Syst</a:t>
                      </a:r>
                      <a:r>
                        <a:rPr lang="en-US" sz="3050" b="1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em  </a:t>
                      </a:r>
                      <a:r>
                        <a:rPr lang="en-US" sz="3050" b="1" spc="7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(</a:t>
                      </a:r>
                      <a:r>
                        <a:rPr sz="3050" b="1" spc="7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Scientific</a:t>
                      </a:r>
                      <a:r>
                        <a:rPr sz="3050" b="1" spc="-25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3050" b="1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Reality)</a:t>
                      </a:r>
                      <a:endParaRPr sz="3050" b="1" dirty="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318135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4010">
                <a:tc>
                  <a:txBody>
                    <a:bodyPr/>
                    <a:lstStyle/>
                    <a:p>
                      <a:pPr marL="243840">
                        <a:lnSpc>
                          <a:spcPts val="3840"/>
                        </a:lnSpc>
                        <a:spcBef>
                          <a:spcPts val="1800"/>
                        </a:spcBef>
                      </a:pPr>
                      <a:r>
                        <a:rPr sz="3400" b="1" spc="-2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Data</a:t>
                      </a:r>
                      <a:endParaRPr sz="3400" b="1" dirty="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  <a:p>
                      <a:pPr marL="243840">
                        <a:lnSpc>
                          <a:spcPts val="3600"/>
                        </a:lnSpc>
                      </a:pPr>
                      <a:r>
                        <a:rPr sz="3200" b="1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Control</a:t>
                      </a:r>
                      <a:endParaRPr sz="3200" b="1" dirty="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228600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065" marR="202565" indent="-5080">
                        <a:lnSpc>
                          <a:spcPts val="3400"/>
                        </a:lnSpc>
                        <a:spcBef>
                          <a:spcPts val="2480"/>
                        </a:spcBef>
                      </a:pPr>
                      <a:r>
                        <a:rPr sz="3050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Black</a:t>
                      </a:r>
                      <a:r>
                        <a:rPr sz="3050" spc="-18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3050" spc="-6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Box</a:t>
                      </a:r>
                      <a:r>
                        <a:rPr sz="3050" spc="-14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3050" spc="-35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Data</a:t>
                      </a:r>
                      <a:r>
                        <a:rPr sz="3050" spc="-18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3050" spc="-7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Pemerintah </a:t>
                      </a:r>
                      <a:r>
                        <a:rPr sz="3050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(Tertutup/Opaque)</a:t>
                      </a:r>
                      <a:endParaRPr sz="305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314960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065" marR="715010" indent="-6985">
                        <a:lnSpc>
                          <a:spcPts val="3400"/>
                        </a:lnSpc>
                        <a:spcBef>
                          <a:spcPts val="2480"/>
                        </a:spcBef>
                      </a:pPr>
                      <a:r>
                        <a:rPr sz="3050" b="1" dirty="0">
                          <a:solidFill>
                            <a:srgbClr val="1C775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Shadow</a:t>
                      </a:r>
                      <a:r>
                        <a:rPr sz="3050" b="1" spc="-114" dirty="0">
                          <a:solidFill>
                            <a:srgbClr val="1C775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3050" b="1" spc="-10" dirty="0">
                          <a:solidFill>
                            <a:srgbClr val="117E5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Database </a:t>
                      </a:r>
                      <a:r>
                        <a:rPr sz="3050" spc="-2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(Terbuka/Vector</a:t>
                      </a:r>
                      <a:r>
                        <a:rPr sz="3050" spc="-114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3050" spc="-14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Ready)</a:t>
                      </a:r>
                      <a:endParaRPr sz="3050" dirty="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314960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800">
                <a:tc>
                  <a:txBody>
                    <a:bodyPr/>
                    <a:lstStyle/>
                    <a:p>
                      <a:pPr marL="245745">
                        <a:lnSpc>
                          <a:spcPts val="3485"/>
                        </a:lnSpc>
                        <a:spcBef>
                          <a:spcPts val="1864"/>
                        </a:spcBef>
                      </a:pPr>
                      <a:r>
                        <a:rPr sz="3100" b="1" spc="-2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Unit</a:t>
                      </a:r>
                      <a:endParaRPr sz="3100" b="1" dirty="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  <a:p>
                      <a:pPr marL="264795">
                        <a:lnSpc>
                          <a:spcPts val="3665"/>
                        </a:lnSpc>
                      </a:pPr>
                      <a:r>
                        <a:rPr sz="3250" b="1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Analisis</a:t>
                      </a:r>
                      <a:endParaRPr sz="3250" b="1" dirty="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236854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2900">
                        <a:latin typeface="Roboto" panose="02000000000000000000" pitchFamily="2" charset="0"/>
                        <a:ea typeface="Roboto" panose="02000000000000000000" pitchFamily="2" charset="0"/>
                        <a:cs typeface="Times New Roman"/>
                      </a:endParaRPr>
                    </a:p>
                    <a:p>
                      <a:pPr marL="262255">
                        <a:lnSpc>
                          <a:spcPct val="100000"/>
                        </a:lnSpc>
                      </a:pPr>
                      <a:r>
                        <a:rPr sz="29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Batas</a:t>
                      </a:r>
                      <a:r>
                        <a:rPr sz="2900" spc="15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2900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Administratif</a:t>
                      </a:r>
                      <a:endParaRPr sz="290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2900" dirty="0">
                        <a:latin typeface="Roboto" panose="02000000000000000000" pitchFamily="2" charset="0"/>
                        <a:ea typeface="Roboto" panose="02000000000000000000" pitchFamily="2" charset="0"/>
                        <a:cs typeface="Times New Roman"/>
                      </a:endParaRPr>
                    </a:p>
                    <a:p>
                      <a:pPr marL="249554">
                        <a:lnSpc>
                          <a:spcPct val="100000"/>
                        </a:lnSpc>
                      </a:pPr>
                      <a:r>
                        <a:rPr sz="2900" b="1" spc="70" dirty="0">
                          <a:solidFill>
                            <a:srgbClr val="0C7548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Batas</a:t>
                      </a:r>
                      <a:r>
                        <a:rPr sz="2900" b="1" spc="-75" dirty="0">
                          <a:solidFill>
                            <a:srgbClr val="0C7548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2900" b="1" spc="65" dirty="0">
                          <a:solidFill>
                            <a:srgbClr val="11724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Ekologis</a:t>
                      </a:r>
                      <a:r>
                        <a:rPr sz="2900" b="1" spc="5" dirty="0">
                          <a:solidFill>
                            <a:srgbClr val="11724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2900" b="1" dirty="0">
                          <a:solidFill>
                            <a:srgbClr val="0C72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&amp;</a:t>
                      </a:r>
                      <a:r>
                        <a:rPr sz="2900" b="1" spc="-75" dirty="0">
                          <a:solidFill>
                            <a:srgbClr val="0C72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2900" b="1" spc="-10" dirty="0">
                          <a:solidFill>
                            <a:srgbClr val="0C724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Spasial</a:t>
                      </a:r>
                      <a:endParaRPr sz="2900" b="1" dirty="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2100">
                <a:tc>
                  <a:txBody>
                    <a:bodyPr/>
                    <a:lstStyle/>
                    <a:p>
                      <a:pPr marL="247015" marR="277495" indent="-635">
                        <a:lnSpc>
                          <a:spcPts val="3400"/>
                        </a:lnSpc>
                        <a:spcBef>
                          <a:spcPts val="2345"/>
                        </a:spcBef>
                      </a:pPr>
                      <a:r>
                        <a:rPr sz="3050" b="1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Standar Perhitungan</a:t>
                      </a:r>
                      <a:endParaRPr sz="3050" b="1" dirty="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297815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endParaRPr sz="2900">
                        <a:latin typeface="Roboto" panose="02000000000000000000" pitchFamily="2" charset="0"/>
                        <a:ea typeface="Roboto" panose="02000000000000000000" pitchFamily="2" charset="0"/>
                        <a:cs typeface="Times New Roman"/>
                      </a:endParaRPr>
                    </a:p>
                    <a:p>
                      <a:pPr marL="260350">
                        <a:lnSpc>
                          <a:spcPct val="100000"/>
                        </a:lnSpc>
                      </a:pPr>
                      <a:r>
                        <a:rPr sz="29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Regulasi</a:t>
                      </a:r>
                      <a:r>
                        <a:rPr sz="2900" spc="-75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2900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Lokal</a:t>
                      </a:r>
                      <a:endParaRPr sz="290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079" marR="486409" indent="-10795">
                        <a:lnSpc>
                          <a:spcPts val="3400"/>
                        </a:lnSpc>
                        <a:spcBef>
                          <a:spcPts val="2345"/>
                        </a:spcBef>
                      </a:pPr>
                      <a:r>
                        <a:rPr sz="2900" b="1" spc="-85" dirty="0">
                          <a:solidFill>
                            <a:srgbClr val="0A7E4D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NFA</a:t>
                      </a:r>
                      <a:r>
                        <a:rPr sz="2900" b="1" spc="30" dirty="0">
                          <a:solidFill>
                            <a:srgbClr val="0A7E4D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2900" b="1" spc="85" dirty="0">
                          <a:solidFill>
                            <a:srgbClr val="0C6B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Standards</a:t>
                      </a:r>
                      <a:r>
                        <a:rPr sz="2900" b="1" spc="150" dirty="0">
                          <a:solidFill>
                            <a:srgbClr val="0C6B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2900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(National </a:t>
                      </a:r>
                      <a:r>
                        <a:rPr sz="29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Footprint</a:t>
                      </a:r>
                      <a:r>
                        <a:rPr sz="2900" spc="7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2900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Accounts)</a:t>
                      </a:r>
                      <a:endParaRPr sz="2900" dirty="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297815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" name="object 2">
            <a:extLst>
              <a:ext uri="{FF2B5EF4-FFF2-40B4-BE49-F238E27FC236}">
                <a16:creationId xmlns:a16="http://schemas.microsoft.com/office/drawing/2014/main" id="{475CBBA9-64FA-B43F-32C2-D581A355909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33500" y="4047434"/>
            <a:ext cx="749300" cy="749300"/>
          </a:xfrm>
          <a:prstGeom prst="rect">
            <a:avLst/>
          </a:prstGeom>
        </p:spPr>
      </p:pic>
      <p:sp>
        <p:nvSpPr>
          <p:cNvPr id="22" name="Freeform 5">
            <a:extLst>
              <a:ext uri="{FF2B5EF4-FFF2-40B4-BE49-F238E27FC236}">
                <a16:creationId xmlns:a16="http://schemas.microsoft.com/office/drawing/2014/main" id="{D7D952EF-D45E-B825-1667-7689AE78DB5F}"/>
              </a:ext>
            </a:extLst>
          </p:cNvPr>
          <p:cNvSpPr/>
          <p:nvPr/>
        </p:nvSpPr>
        <p:spPr>
          <a:xfrm>
            <a:off x="863600" y="479072"/>
            <a:ext cx="833188" cy="848215"/>
          </a:xfrm>
          <a:custGeom>
            <a:avLst/>
            <a:gdLst/>
            <a:ahLst/>
            <a:cxnLst/>
            <a:rect l="l" t="t" r="r" b="b"/>
            <a:pathLst>
              <a:path w="274846" h="279803">
                <a:moveTo>
                  <a:pt x="83461" y="0"/>
                </a:moveTo>
                <a:lnTo>
                  <a:pt x="191385" y="0"/>
                </a:lnTo>
                <a:cubicBezTo>
                  <a:pt x="237479" y="0"/>
                  <a:pt x="274846" y="37367"/>
                  <a:pt x="274846" y="83461"/>
                </a:cubicBezTo>
                <a:lnTo>
                  <a:pt x="274846" y="196341"/>
                </a:lnTo>
                <a:cubicBezTo>
                  <a:pt x="274846" y="242436"/>
                  <a:pt x="237479" y="279803"/>
                  <a:pt x="191385" y="279803"/>
                </a:cubicBezTo>
                <a:lnTo>
                  <a:pt x="83461" y="279803"/>
                </a:lnTo>
                <a:cubicBezTo>
                  <a:pt x="37367" y="279803"/>
                  <a:pt x="0" y="242436"/>
                  <a:pt x="0" y="196341"/>
                </a:cubicBezTo>
                <a:lnTo>
                  <a:pt x="0" y="83461"/>
                </a:lnTo>
                <a:cubicBezTo>
                  <a:pt x="0" y="37367"/>
                  <a:pt x="37367" y="0"/>
                  <a:pt x="83461" y="0"/>
                </a:cubicBezTo>
                <a:close/>
              </a:path>
            </a:pathLst>
          </a:custGeom>
          <a:solidFill>
            <a:srgbClr val="092845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08FA16AD-34DC-895F-7F90-DAC23ED1132D}"/>
              </a:ext>
            </a:extLst>
          </p:cNvPr>
          <p:cNvSpPr txBox="1"/>
          <p:nvPr/>
        </p:nvSpPr>
        <p:spPr>
          <a:xfrm>
            <a:off x="863600" y="541038"/>
            <a:ext cx="833188" cy="9637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76"/>
              </a:lnSpc>
            </a:pPr>
            <a:r>
              <a:rPr lang="en-US" sz="32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</a:t>
            </a:r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A161CFDC-4C8A-1FB9-0E8D-A81986C593BB}"/>
              </a:ext>
            </a:extLst>
          </p:cNvPr>
          <p:cNvSpPr/>
          <p:nvPr/>
        </p:nvSpPr>
        <p:spPr>
          <a:xfrm>
            <a:off x="885822" y="2209800"/>
            <a:ext cx="6965043" cy="0"/>
          </a:xfrm>
          <a:prstGeom prst="line">
            <a:avLst/>
          </a:prstGeom>
          <a:ln w="9525" cap="rnd">
            <a:solidFill>
              <a:srgbClr val="9D9CA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C51860F0-E8F5-C8C4-2CB6-2613E533DD8C}"/>
              </a:ext>
            </a:extLst>
          </p:cNvPr>
          <p:cNvSpPr/>
          <p:nvPr/>
        </p:nvSpPr>
        <p:spPr>
          <a:xfrm>
            <a:off x="16103600" y="8616194"/>
            <a:ext cx="628650" cy="628650"/>
          </a:xfrm>
          <a:custGeom>
            <a:avLst/>
            <a:gdLst/>
            <a:ahLst/>
            <a:cxnLst/>
            <a:rect l="l" t="t" r="r" b="b"/>
            <a:pathLst>
              <a:path w="217174" h="217174">
                <a:moveTo>
                  <a:pt x="0" y="0"/>
                </a:moveTo>
                <a:lnTo>
                  <a:pt x="217174" y="0"/>
                </a:lnTo>
                <a:lnTo>
                  <a:pt x="217174" y="217174"/>
                </a:lnTo>
                <a:lnTo>
                  <a:pt x="0" y="2171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7">
            <a:extLst>
              <a:ext uri="{FF2B5EF4-FFF2-40B4-BE49-F238E27FC236}">
                <a16:creationId xmlns:a16="http://schemas.microsoft.com/office/drawing/2014/main" id="{C527C39E-0F71-B70E-CCCC-39A8EF5AC5D1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921400" y="1126517"/>
            <a:ext cx="15125050" cy="1010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112"/>
              </a:lnSpc>
            </a:pPr>
            <a:r>
              <a:rPr lang="en-US" sz="4400" b="1" dirty="0">
                <a:solidFill>
                  <a:srgbClr val="070707"/>
                </a:solidFill>
                <a:latin typeface="Aileron Heavy" panose="020B0604020202020204" charset="0"/>
                <a:ea typeface="Inter ExtraBold" panose="02000503000000020004" pitchFamily="2" charset="0"/>
                <a:cs typeface="Marykate"/>
                <a:sym typeface="Marykate"/>
              </a:rPr>
              <a:t>Peta Jalan </a:t>
            </a:r>
            <a:r>
              <a:rPr lang="en-US" sz="4400" b="1" dirty="0" err="1">
                <a:solidFill>
                  <a:srgbClr val="070707"/>
                </a:solidFill>
                <a:latin typeface="Aileron Heavy" panose="020B0604020202020204" charset="0"/>
                <a:ea typeface="Inter ExtraBold" panose="02000503000000020004" pitchFamily="2" charset="0"/>
                <a:cs typeface="Marykate"/>
                <a:sym typeface="Marykate"/>
              </a:rPr>
              <a:t>Implementasi</a:t>
            </a:r>
            <a:r>
              <a:rPr lang="en-US" sz="4400" b="1" dirty="0">
                <a:solidFill>
                  <a:srgbClr val="070707"/>
                </a:solidFill>
                <a:latin typeface="Aileron Heavy" panose="020B0604020202020204" charset="0"/>
                <a:ea typeface="Inter ExtraBold" panose="02000503000000020004" pitchFamily="2" charset="0"/>
                <a:cs typeface="Marykate"/>
                <a:sym typeface="Marykate"/>
              </a:rPr>
              <a:t> </a:t>
            </a:r>
            <a:r>
              <a:rPr lang="en-US" sz="4400" b="1" dirty="0">
                <a:solidFill>
                  <a:srgbClr val="070707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Tiga </a:t>
            </a:r>
            <a:r>
              <a:rPr lang="en-US" sz="4400" b="1" dirty="0" err="1">
                <a:solidFill>
                  <a:srgbClr val="070707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Tahun</a:t>
            </a:r>
            <a:r>
              <a:rPr lang="en-US" sz="4400" b="1" dirty="0">
                <a:solidFill>
                  <a:srgbClr val="070707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(2025-2027)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17351" y="3662338"/>
            <a:ext cx="1617260" cy="625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85"/>
              </a:lnSpc>
            </a:pPr>
            <a:r>
              <a:rPr lang="en-US" sz="3200" b="1" spc="166" dirty="0">
                <a:solidFill>
                  <a:srgbClr val="F7E8F8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2025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45419" y="4281835"/>
            <a:ext cx="4610315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31"/>
              </a:lnSpc>
            </a:pPr>
            <a:r>
              <a:rPr lang="en-US" sz="2800" b="1" spc="32" dirty="0">
                <a:solidFill>
                  <a:srgbClr val="F7E8F8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Regulatory Audit</a:t>
            </a:r>
          </a:p>
          <a:p>
            <a:pPr algn="just">
              <a:lnSpc>
                <a:spcPts val="3531"/>
              </a:lnSpc>
            </a:pPr>
            <a:r>
              <a:rPr lang="en-US" sz="2800" b="1" spc="32" dirty="0">
                <a:solidFill>
                  <a:srgbClr val="F7E8F8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(The Foundation)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1906" y="5664125"/>
            <a:ext cx="4248150" cy="201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7"/>
              </a:lnSpc>
            </a:pP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Analisis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mendalam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terhadap</a:t>
            </a:r>
            <a:endParaRPr lang="en-US" sz="200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Marykate"/>
              <a:sym typeface="Marykate"/>
            </a:endParaRPr>
          </a:p>
          <a:p>
            <a:pPr algn="just">
              <a:lnSpc>
                <a:spcPts val="3227"/>
              </a:lnSpc>
            </a:pP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kerangka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hukum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dan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regulasi</a:t>
            </a:r>
            <a:endParaRPr lang="en-US" sz="200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Marykate"/>
              <a:sym typeface="Marykate"/>
            </a:endParaRPr>
          </a:p>
          <a:p>
            <a:pPr algn="just">
              <a:lnSpc>
                <a:spcPts val="3227"/>
              </a:lnSpc>
            </a:pP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(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Permen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LH)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untuk</a:t>
            </a:r>
            <a:endParaRPr lang="en-US" sz="200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Marykate"/>
              <a:sym typeface="Marykate"/>
            </a:endParaRPr>
          </a:p>
          <a:p>
            <a:pPr algn="just">
              <a:lnSpc>
                <a:spcPts val="3227"/>
              </a:lnSpc>
            </a:pP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mengidentifikasi</a:t>
            </a:r>
            <a:endParaRPr lang="en-US" sz="200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Marykate"/>
              <a:sym typeface="Marykate"/>
            </a:endParaRPr>
          </a:p>
          <a:p>
            <a:pPr algn="just">
              <a:lnSpc>
                <a:spcPts val="3227"/>
              </a:lnSpc>
            </a:pP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kesenjangan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dan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peluang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8614" y="3613569"/>
            <a:ext cx="1462631" cy="6149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43"/>
              </a:lnSpc>
            </a:pPr>
            <a:r>
              <a:rPr lang="en-US" sz="3745" b="1" spc="198" dirty="0">
                <a:solidFill>
                  <a:srgbClr val="E6F4F7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31050" y="4250659"/>
            <a:ext cx="3741275" cy="848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800" b="1" spc="102" dirty="0">
                <a:solidFill>
                  <a:srgbClr val="E6F4F7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Technical Assess</a:t>
            </a:r>
          </a:p>
          <a:p>
            <a:pPr algn="just">
              <a:lnSpc>
                <a:spcPts val="3448"/>
              </a:lnSpc>
            </a:pPr>
            <a:r>
              <a:rPr lang="en-US" sz="2800" b="1" spc="102" dirty="0">
                <a:solidFill>
                  <a:srgbClr val="E6F4F7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(The Calculation)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35481" y="5675643"/>
            <a:ext cx="4114800" cy="2420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61"/>
              </a:lnSpc>
            </a:pP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Penerapan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metode</a:t>
            </a:r>
            <a:endParaRPr lang="en-US" sz="200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Marykate"/>
              <a:sym typeface="Marykate"/>
            </a:endParaRPr>
          </a:p>
          <a:p>
            <a:pPr>
              <a:lnSpc>
                <a:spcPts val="3161"/>
              </a:lnSpc>
            </a:pP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perhitungan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footprint (NFA</a:t>
            </a:r>
          </a:p>
          <a:p>
            <a:pPr>
              <a:lnSpc>
                <a:spcPts val="3161"/>
              </a:lnSpc>
            </a:pP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Standards),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digitalisasi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, dan</a:t>
            </a:r>
          </a:p>
          <a:p>
            <a:pPr>
              <a:lnSpc>
                <a:spcPts val="3161"/>
              </a:lnSpc>
            </a:pP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pembersihan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data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untuk</a:t>
            </a:r>
            <a:endParaRPr lang="en-US" sz="200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Marykate"/>
              <a:sym typeface="Marykate"/>
            </a:endParaRPr>
          </a:p>
          <a:p>
            <a:pPr>
              <a:lnSpc>
                <a:spcPts val="3161"/>
              </a:lnSpc>
            </a:pP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menciptakan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"Shadow Database".</a:t>
            </a:r>
          </a:p>
          <a:p>
            <a:pPr>
              <a:lnSpc>
                <a:spcPts val="3161"/>
              </a:lnSpc>
            </a:pPr>
            <a:endParaRPr lang="en-US" sz="200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Marykate"/>
              <a:sym typeface="Marykat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916864" y="7529370"/>
            <a:ext cx="1590675" cy="527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8"/>
              </a:lnSpc>
            </a:pPr>
            <a:endParaRPr lang="en-US" sz="3277" spc="121" dirty="0">
              <a:solidFill>
                <a:srgbClr val="1D1D1D"/>
              </a:solidFill>
              <a:latin typeface="Marykate"/>
              <a:ea typeface="Marykate"/>
              <a:cs typeface="Marykate"/>
              <a:sym typeface="Marykat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923438" y="3830822"/>
            <a:ext cx="2638425" cy="134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2"/>
              </a:lnSpc>
            </a:pPr>
            <a:r>
              <a:rPr lang="en-US" sz="3472" spc="38">
                <a:solidFill>
                  <a:srgbClr val="E6F4F7"/>
                </a:solidFill>
                <a:latin typeface="Marykate"/>
                <a:ea typeface="Inter" panose="02000503000000020004" pitchFamily="2" charset="0"/>
                <a:cs typeface="Marykate"/>
                <a:sym typeface="Marykate"/>
              </a:rPr>
              <a:t>2027</a:t>
            </a:r>
          </a:p>
          <a:p>
            <a:pPr algn="ctr">
              <a:lnSpc>
                <a:spcPts val="3472"/>
              </a:lnSpc>
            </a:pPr>
            <a:r>
              <a:rPr lang="en-US" sz="3472" spc="38">
                <a:solidFill>
                  <a:srgbClr val="E6F4F7"/>
                </a:solidFill>
                <a:latin typeface="Marykate"/>
                <a:ea typeface="Inter" panose="02000503000000020004" pitchFamily="2" charset="0"/>
                <a:cs typeface="Marykate"/>
                <a:sym typeface="Marykate"/>
              </a:rPr>
              <a:t>Policy &amp; Monitor</a:t>
            </a:r>
          </a:p>
          <a:p>
            <a:pPr algn="ctr">
              <a:lnSpc>
                <a:spcPts val="3472"/>
              </a:lnSpc>
            </a:pPr>
            <a:r>
              <a:rPr lang="en-US" sz="3472" spc="38">
                <a:solidFill>
                  <a:srgbClr val="E6F4F7"/>
                </a:solidFill>
                <a:latin typeface="Marykate"/>
                <a:ea typeface="Inter" panose="02000503000000020004" pitchFamily="2" charset="0"/>
                <a:cs typeface="Marykate"/>
                <a:sym typeface="Marykate"/>
              </a:rPr>
              <a:t>(The Integration)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07878" y="5655466"/>
            <a:ext cx="3981450" cy="1648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83"/>
              </a:lnSpc>
            </a:pP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Integrasi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temuan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ke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dalam</a:t>
            </a:r>
          </a:p>
          <a:p>
            <a:pPr>
              <a:lnSpc>
                <a:spcPts val="3283"/>
              </a:lnSpc>
            </a:pP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kebijakan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nasional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,</a:t>
            </a:r>
          </a:p>
          <a:p>
            <a:pPr>
              <a:lnSpc>
                <a:spcPts val="3283"/>
              </a:lnSpc>
            </a:pP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pemantauan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berkelanjutan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,</a:t>
            </a:r>
          </a:p>
          <a:p>
            <a:pPr>
              <a:lnSpc>
                <a:spcPts val="3283"/>
              </a:lnSpc>
            </a:pP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dan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pelaporan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transparan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07214" y="8905983"/>
            <a:ext cx="2619375" cy="319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 spc="66">
                <a:solidFill>
                  <a:srgbClr val="1D1D1D"/>
                </a:solidFill>
                <a:latin typeface="Arial MT Pro"/>
                <a:ea typeface="Arial MT Pro"/>
                <a:cs typeface="Arial MT Pro"/>
                <a:sym typeface="Arial MT Pro"/>
              </a:rPr>
              <a:t>Sumber: Lampiran Teknis</a:t>
            </a:r>
          </a:p>
        </p:txBody>
      </p:sp>
      <p:pic>
        <p:nvPicPr>
          <p:cNvPr id="16" name="object 2">
            <a:extLst>
              <a:ext uri="{FF2B5EF4-FFF2-40B4-BE49-F238E27FC236}">
                <a16:creationId xmlns:a16="http://schemas.microsoft.com/office/drawing/2014/main" id="{F67C0AB6-1A47-0F47-BCF7-CCA62CE7353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9000" y="3568700"/>
            <a:ext cx="15697200" cy="1701800"/>
          </a:xfrm>
          <a:prstGeom prst="rect">
            <a:avLst/>
          </a:prstGeom>
        </p:spPr>
      </p:pic>
      <p:sp>
        <p:nvSpPr>
          <p:cNvPr id="17" name="Freeform 5">
            <a:extLst>
              <a:ext uri="{FF2B5EF4-FFF2-40B4-BE49-F238E27FC236}">
                <a16:creationId xmlns:a16="http://schemas.microsoft.com/office/drawing/2014/main" id="{135B5C4E-651A-E145-7487-3F45B7EEFC4E}"/>
              </a:ext>
            </a:extLst>
          </p:cNvPr>
          <p:cNvSpPr/>
          <p:nvPr/>
        </p:nvSpPr>
        <p:spPr>
          <a:xfrm>
            <a:off x="863600" y="479072"/>
            <a:ext cx="833188" cy="848215"/>
          </a:xfrm>
          <a:custGeom>
            <a:avLst/>
            <a:gdLst/>
            <a:ahLst/>
            <a:cxnLst/>
            <a:rect l="l" t="t" r="r" b="b"/>
            <a:pathLst>
              <a:path w="274846" h="279803">
                <a:moveTo>
                  <a:pt x="83461" y="0"/>
                </a:moveTo>
                <a:lnTo>
                  <a:pt x="191385" y="0"/>
                </a:lnTo>
                <a:cubicBezTo>
                  <a:pt x="237479" y="0"/>
                  <a:pt x="274846" y="37367"/>
                  <a:pt x="274846" y="83461"/>
                </a:cubicBezTo>
                <a:lnTo>
                  <a:pt x="274846" y="196341"/>
                </a:lnTo>
                <a:cubicBezTo>
                  <a:pt x="274846" y="242436"/>
                  <a:pt x="237479" y="279803"/>
                  <a:pt x="191385" y="279803"/>
                </a:cubicBezTo>
                <a:lnTo>
                  <a:pt x="83461" y="279803"/>
                </a:lnTo>
                <a:cubicBezTo>
                  <a:pt x="37367" y="279803"/>
                  <a:pt x="0" y="242436"/>
                  <a:pt x="0" y="196341"/>
                </a:cubicBezTo>
                <a:lnTo>
                  <a:pt x="0" y="83461"/>
                </a:lnTo>
                <a:cubicBezTo>
                  <a:pt x="0" y="37367"/>
                  <a:pt x="37367" y="0"/>
                  <a:pt x="83461" y="0"/>
                </a:cubicBezTo>
                <a:close/>
              </a:path>
            </a:pathLst>
          </a:custGeom>
          <a:solidFill>
            <a:srgbClr val="092845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0531C981-0D11-9B96-D2BB-74764CABF62D}"/>
              </a:ext>
            </a:extLst>
          </p:cNvPr>
          <p:cNvSpPr txBox="1"/>
          <p:nvPr/>
        </p:nvSpPr>
        <p:spPr>
          <a:xfrm>
            <a:off x="863600" y="541038"/>
            <a:ext cx="833188" cy="9637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76"/>
              </a:lnSpc>
            </a:pPr>
            <a:r>
              <a:rPr lang="en-US" sz="32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07</a:t>
            </a:r>
          </a:p>
        </p:txBody>
      </p:sp>
      <p:sp>
        <p:nvSpPr>
          <p:cNvPr id="19" name="AutoShape 3">
            <a:extLst>
              <a:ext uri="{FF2B5EF4-FFF2-40B4-BE49-F238E27FC236}">
                <a16:creationId xmlns:a16="http://schemas.microsoft.com/office/drawing/2014/main" id="{6FFFCD97-3C0D-D60C-097C-9DB9A348727B}"/>
              </a:ext>
            </a:extLst>
          </p:cNvPr>
          <p:cNvSpPr/>
          <p:nvPr/>
        </p:nvSpPr>
        <p:spPr>
          <a:xfrm>
            <a:off x="921400" y="2362200"/>
            <a:ext cx="6965043" cy="0"/>
          </a:xfrm>
          <a:prstGeom prst="line">
            <a:avLst/>
          </a:prstGeom>
          <a:ln w="9525" cap="rnd">
            <a:solidFill>
              <a:srgbClr val="9D9CA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8DFF994E-3803-FD0E-15CB-3D0E6BCEBCA1}"/>
              </a:ext>
            </a:extLst>
          </p:cNvPr>
          <p:cNvSpPr/>
          <p:nvPr/>
        </p:nvSpPr>
        <p:spPr>
          <a:xfrm>
            <a:off x="16103600" y="8616194"/>
            <a:ext cx="628650" cy="628650"/>
          </a:xfrm>
          <a:custGeom>
            <a:avLst/>
            <a:gdLst/>
            <a:ahLst/>
            <a:cxnLst/>
            <a:rect l="l" t="t" r="r" b="b"/>
            <a:pathLst>
              <a:path w="217174" h="217174">
                <a:moveTo>
                  <a:pt x="0" y="0"/>
                </a:moveTo>
                <a:lnTo>
                  <a:pt x="217174" y="0"/>
                </a:lnTo>
                <a:lnTo>
                  <a:pt x="217174" y="217174"/>
                </a:lnTo>
                <a:lnTo>
                  <a:pt x="0" y="2171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7">
            <a:extLst>
              <a:ext uri="{FF2B5EF4-FFF2-40B4-BE49-F238E27FC236}">
                <a16:creationId xmlns:a16="http://schemas.microsoft.com/office/drawing/2014/main" id="{03281DAB-A585-62DA-027B-87212719375D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" name="Freeform 2"/>
          <p:cNvSpPr/>
          <p:nvPr/>
        </p:nvSpPr>
        <p:spPr>
          <a:xfrm>
            <a:off x="0" y="1"/>
            <a:ext cx="17475203" cy="1472852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56222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5149850" y="321343"/>
            <a:ext cx="6775449" cy="731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 spc="-150" dirty="0">
                <a:solidFill>
                  <a:srgbClr val="FAF0FB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2025 (Regulatory Audit)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46365" y="2001815"/>
            <a:ext cx="11699885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 dirty="0" err="1">
                <a:solidFill>
                  <a:srgbClr val="121212"/>
                </a:solidFill>
                <a:latin typeface="Aileron Heavy" panose="020B0604020202020204" charset="0"/>
                <a:ea typeface="Roboto" panose="02000000000000000000" pitchFamily="2" charset="0"/>
                <a:cs typeface="Barlow Bold"/>
                <a:sym typeface="Barlow Bold"/>
              </a:rPr>
              <a:t>Membangun</a:t>
            </a:r>
            <a:r>
              <a:rPr lang="en-US" sz="4200" b="1" dirty="0">
                <a:solidFill>
                  <a:srgbClr val="121212"/>
                </a:solidFill>
                <a:latin typeface="Aileron Heavy" panose="020B0604020202020204" charset="0"/>
                <a:ea typeface="Roboto" panose="02000000000000000000" pitchFamily="2" charset="0"/>
                <a:cs typeface="Barlow Bold"/>
                <a:sym typeface="Barlow Bold"/>
              </a:rPr>
              <a:t> </a:t>
            </a:r>
            <a:r>
              <a:rPr lang="en-US" sz="4200" b="1" dirty="0" err="1">
                <a:solidFill>
                  <a:srgbClr val="121212"/>
                </a:solidFill>
                <a:latin typeface="Aileron Heavy" panose="020B0604020202020204" charset="0"/>
                <a:ea typeface="Roboto" panose="02000000000000000000" pitchFamily="2" charset="0"/>
                <a:cs typeface="Barlow Bold"/>
                <a:sym typeface="Barlow Bold"/>
              </a:rPr>
              <a:t>Infrastruktur</a:t>
            </a:r>
            <a:r>
              <a:rPr lang="en-US" sz="4200" b="1" dirty="0">
                <a:solidFill>
                  <a:srgbClr val="121212"/>
                </a:solidFill>
                <a:latin typeface="Aileron Heavy" panose="020B0604020202020204" charset="0"/>
                <a:ea typeface="Roboto" panose="02000000000000000000" pitchFamily="2" charset="0"/>
                <a:cs typeface="Barlow Bold"/>
                <a:sym typeface="Barlow Bold"/>
              </a:rPr>
              <a:t> Data &amp; Audit Legal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9995" y="3384550"/>
            <a:ext cx="1721455" cy="413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121212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Activities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43951" y="3301835"/>
            <a:ext cx="5187948" cy="495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121212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Key Deliverables/</a:t>
            </a:r>
            <a:r>
              <a:rPr lang="en-US" sz="3000" b="1" dirty="0" err="1">
                <a:solidFill>
                  <a:srgbClr val="121212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Luaran</a:t>
            </a:r>
            <a:endParaRPr lang="en-US" sz="3000" b="1" dirty="0">
              <a:solidFill>
                <a:srgbClr val="121212"/>
              </a:solidFill>
              <a:latin typeface="Inter" panose="02000503000000020004" pitchFamily="2" charset="0"/>
              <a:ea typeface="Inter" panose="02000503000000020004" pitchFamily="2" charset="0"/>
              <a:cs typeface="Barlow Bold"/>
              <a:sym typeface="Barlow Bold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7E81A91A-0024-451A-AA09-A444F826ED3E}"/>
              </a:ext>
            </a:extLst>
          </p:cNvPr>
          <p:cNvSpPr txBox="1"/>
          <p:nvPr/>
        </p:nvSpPr>
        <p:spPr>
          <a:xfrm>
            <a:off x="960438" y="4470400"/>
            <a:ext cx="7366634" cy="34510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3895" marR="293370" indent="-634365">
              <a:lnSpc>
                <a:spcPct val="109300"/>
              </a:lnSpc>
              <a:spcBef>
                <a:spcPts val="95"/>
              </a:spcBef>
              <a:buAutoNum type="arabicPeriod"/>
              <a:tabLst>
                <a:tab pos="702310" algn="l"/>
              </a:tabLst>
            </a:pPr>
            <a:r>
              <a:rPr sz="3050" b="1" spc="-150" dirty="0">
                <a:latin typeface="Inter" panose="02000503000000020004" pitchFamily="2" charset="0"/>
                <a:ea typeface="Inter" panose="02000503000000020004" pitchFamily="2" charset="0"/>
                <a:cs typeface="Arial MT"/>
              </a:rPr>
              <a:t>Regulatory &amp; Institutional Mapping: </a:t>
            </a:r>
            <a:r>
              <a:rPr sz="3050" spc="-150" dirty="0">
                <a:latin typeface="Inter" panose="02000503000000020004" pitchFamily="2" charset="0"/>
                <a:ea typeface="Inter" panose="02000503000000020004" pitchFamily="2" charset="0"/>
                <a:cs typeface="Arial MT"/>
              </a:rPr>
              <a:t>	Audit legalitas dan regulasi eksisting.</a:t>
            </a:r>
          </a:p>
          <a:p>
            <a:pPr marL="684530" marR="111125" indent="-654685">
              <a:lnSpc>
                <a:spcPct val="110700"/>
              </a:lnSpc>
              <a:spcBef>
                <a:spcPts val="1500"/>
              </a:spcBef>
              <a:buAutoNum type="arabicPeriod"/>
              <a:tabLst>
                <a:tab pos="684530" algn="l"/>
              </a:tabLst>
            </a:pPr>
            <a:r>
              <a:rPr sz="3050" b="1" spc="-150" dirty="0">
                <a:latin typeface="Inter" panose="02000503000000020004" pitchFamily="2" charset="0"/>
                <a:ea typeface="Inter" panose="02000503000000020004" pitchFamily="2" charset="0"/>
                <a:cs typeface="Arial MT"/>
              </a:rPr>
              <a:t>Policy Gap Analysis:</a:t>
            </a:r>
            <a:r>
              <a:rPr sz="3050" spc="-150" dirty="0">
                <a:latin typeface="Inter" panose="02000503000000020004" pitchFamily="2" charset="0"/>
                <a:ea typeface="Inter" panose="02000503000000020004" pitchFamily="2" charset="0"/>
                <a:cs typeface="Arial MT"/>
              </a:rPr>
              <a:t> Membandingkan Swiader Method vs Permen LH.</a:t>
            </a:r>
          </a:p>
          <a:p>
            <a:pPr marL="684530" marR="5080" indent="-672465">
              <a:lnSpc>
                <a:spcPct val="109300"/>
              </a:lnSpc>
              <a:spcBef>
                <a:spcPts val="1500"/>
              </a:spcBef>
              <a:buAutoNum type="arabicPeriod"/>
              <a:tabLst>
                <a:tab pos="699770" algn="l"/>
              </a:tabLst>
            </a:pPr>
            <a:r>
              <a:rPr sz="3050" b="1" spc="-150" dirty="0">
                <a:latin typeface="Inter" panose="02000503000000020004" pitchFamily="2" charset="0"/>
                <a:ea typeface="Inter" panose="02000503000000020004" pitchFamily="2" charset="0"/>
                <a:cs typeface="Arial MT"/>
              </a:rPr>
              <a:t>Data Prep: </a:t>
            </a:r>
            <a:r>
              <a:rPr sz="3050" b="1" spc="-150" dirty="0" err="1">
                <a:latin typeface="Inter" panose="02000503000000020004" pitchFamily="2" charset="0"/>
                <a:ea typeface="Inter" panose="02000503000000020004" pitchFamily="2" charset="0"/>
                <a:cs typeface="Arial MT"/>
              </a:rPr>
              <a:t>Digitasi</a:t>
            </a:r>
            <a:r>
              <a:rPr sz="3050" b="1" spc="-150" dirty="0">
                <a:latin typeface="Inter" panose="02000503000000020004" pitchFamily="2" charset="0"/>
                <a:ea typeface="Inter" panose="02000503000000020004" pitchFamily="2" charset="0"/>
                <a:cs typeface="Arial MT"/>
              </a:rPr>
              <a:t> Peta RTRW (PDF to 	Vector) </a:t>
            </a:r>
            <a:r>
              <a:rPr sz="3050" spc="-150" dirty="0">
                <a:latin typeface="Inter" panose="02000503000000020004" pitchFamily="2" charset="0"/>
                <a:ea typeface="Inter" panose="02000503000000020004" pitchFamily="2" charset="0"/>
                <a:cs typeface="Arial MT"/>
              </a:rPr>
              <a:t>&amp; Scraping Data Publik.</a:t>
            </a:r>
          </a:p>
        </p:txBody>
      </p:sp>
      <p:pic>
        <p:nvPicPr>
          <p:cNvPr id="15" name="object 2">
            <a:extLst>
              <a:ext uri="{FF2B5EF4-FFF2-40B4-BE49-F238E27FC236}">
                <a16:creationId xmlns:a16="http://schemas.microsoft.com/office/drawing/2014/main" id="{A81DD869-9148-5B90-C226-22D1DB7A7EE3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85300" y="7315200"/>
            <a:ext cx="698500" cy="762000"/>
          </a:xfrm>
          <a:prstGeom prst="rect">
            <a:avLst/>
          </a:prstGeom>
        </p:spPr>
      </p:pic>
      <p:pic>
        <p:nvPicPr>
          <p:cNvPr id="16" name="object 3">
            <a:extLst>
              <a:ext uri="{FF2B5EF4-FFF2-40B4-BE49-F238E27FC236}">
                <a16:creationId xmlns:a16="http://schemas.microsoft.com/office/drawing/2014/main" id="{50F2051C-2344-8BB3-FE42-EE1D51877519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85300" y="5867400"/>
            <a:ext cx="685800" cy="685800"/>
          </a:xfrm>
          <a:prstGeom prst="rect">
            <a:avLst/>
          </a:prstGeom>
        </p:spPr>
      </p:pic>
      <p:sp>
        <p:nvSpPr>
          <p:cNvPr id="17" name="object 10">
            <a:extLst>
              <a:ext uri="{FF2B5EF4-FFF2-40B4-BE49-F238E27FC236}">
                <a16:creationId xmlns:a16="http://schemas.microsoft.com/office/drawing/2014/main" id="{12C4FFA1-9BA0-9F8A-0C43-FF7DD49C7EEC}"/>
              </a:ext>
            </a:extLst>
          </p:cNvPr>
          <p:cNvSpPr txBox="1"/>
          <p:nvPr/>
        </p:nvSpPr>
        <p:spPr>
          <a:xfrm>
            <a:off x="9091083" y="4252383"/>
            <a:ext cx="7357745" cy="1122045"/>
          </a:xfrm>
          <a:prstGeom prst="rect">
            <a:avLst/>
          </a:prstGeom>
          <a:ln w="21166">
            <a:solidFill>
              <a:srgbClr val="0C0C0C"/>
            </a:solidFill>
          </a:ln>
        </p:spPr>
        <p:txBody>
          <a:bodyPr vert="horz" wrap="square" lIns="0" tIns="262255" rIns="0" bIns="0" rtlCol="0">
            <a:spAutoFit/>
          </a:bodyPr>
          <a:lstStyle/>
          <a:p>
            <a:pPr marL="897890" algn="ctr">
              <a:lnSpc>
                <a:spcPct val="100000"/>
              </a:lnSpc>
              <a:spcBef>
                <a:spcPts val="2065"/>
              </a:spcBef>
            </a:pPr>
            <a:r>
              <a:rPr lang="en-US" sz="3200" spc="-135" dirty="0">
                <a:latin typeface="Arial MT"/>
                <a:cs typeface="Arial MT"/>
              </a:rPr>
              <a:t>Shadow</a:t>
            </a:r>
            <a:r>
              <a:rPr lang="en-US" sz="3200" spc="-90" dirty="0">
                <a:latin typeface="Arial MT"/>
                <a:cs typeface="Arial MT"/>
              </a:rPr>
              <a:t> </a:t>
            </a:r>
            <a:r>
              <a:rPr lang="en-US" sz="3200" spc="-85" dirty="0">
                <a:latin typeface="Arial MT"/>
                <a:cs typeface="Arial MT"/>
              </a:rPr>
              <a:t>Database</a:t>
            </a:r>
            <a:r>
              <a:rPr lang="en-US" sz="3200" spc="-55" dirty="0">
                <a:latin typeface="Arial MT"/>
                <a:cs typeface="Arial MT"/>
              </a:rPr>
              <a:t> </a:t>
            </a:r>
            <a:r>
              <a:rPr lang="en-US" sz="3200" spc="-90" dirty="0">
                <a:latin typeface="Arial MT"/>
                <a:cs typeface="Arial MT"/>
              </a:rPr>
              <a:t>(Vector</a:t>
            </a:r>
            <a:r>
              <a:rPr lang="en-US" sz="3200" spc="-135" dirty="0">
                <a:latin typeface="Arial MT"/>
                <a:cs typeface="Arial MT"/>
              </a:rPr>
              <a:t> </a:t>
            </a:r>
            <a:r>
              <a:rPr lang="en-US" sz="3200" spc="-10" dirty="0">
                <a:latin typeface="Arial MT"/>
                <a:cs typeface="Arial MT"/>
              </a:rPr>
              <a:t>Ready)</a:t>
            </a:r>
            <a:endParaRPr lang="en-US" sz="3200" dirty="0">
              <a:latin typeface="Arial MT"/>
              <a:cs typeface="Arial MT"/>
            </a:endParaRPr>
          </a:p>
        </p:txBody>
      </p:sp>
      <p:sp>
        <p:nvSpPr>
          <p:cNvPr id="18" name="object 11">
            <a:extLst>
              <a:ext uri="{FF2B5EF4-FFF2-40B4-BE49-F238E27FC236}">
                <a16:creationId xmlns:a16="http://schemas.microsoft.com/office/drawing/2014/main" id="{E86E83AF-EA8D-439F-71DF-614AD913320D}"/>
              </a:ext>
            </a:extLst>
          </p:cNvPr>
          <p:cNvSpPr txBox="1"/>
          <p:nvPr/>
        </p:nvSpPr>
        <p:spPr>
          <a:xfrm>
            <a:off x="9082616" y="5666316"/>
            <a:ext cx="7366000" cy="1143000"/>
          </a:xfrm>
          <a:prstGeom prst="rect">
            <a:avLst/>
          </a:prstGeom>
          <a:ln w="21166">
            <a:solidFill>
              <a:srgbClr val="2B2B2B"/>
            </a:solidFill>
          </a:ln>
        </p:spPr>
        <p:txBody>
          <a:bodyPr vert="horz" wrap="square" lIns="0" tIns="302260" rIns="0" bIns="0" rtlCol="0">
            <a:spAutoFit/>
          </a:bodyPr>
          <a:lstStyle/>
          <a:p>
            <a:pPr marL="607695" algn="ctr">
              <a:lnSpc>
                <a:spcPct val="100000"/>
              </a:lnSpc>
              <a:spcBef>
                <a:spcPts val="2380"/>
              </a:spcBef>
            </a:pPr>
            <a:r>
              <a:rPr sz="3050" dirty="0">
                <a:latin typeface="Arial MT"/>
                <a:cs typeface="Arial MT"/>
              </a:rPr>
              <a:t>Prototype</a:t>
            </a:r>
            <a:r>
              <a:rPr sz="3050" spc="9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lndeks</a:t>
            </a:r>
            <a:r>
              <a:rPr sz="3050" spc="60" dirty="0">
                <a:latin typeface="Arial MT"/>
                <a:cs typeface="Arial MT"/>
              </a:rPr>
              <a:t> </a:t>
            </a:r>
            <a:r>
              <a:rPr sz="3050" spc="-20" dirty="0">
                <a:latin typeface="Arial MT"/>
                <a:cs typeface="Arial MT"/>
              </a:rPr>
              <a:t>Terbuka</a:t>
            </a:r>
            <a:r>
              <a:rPr sz="3050" spc="195" dirty="0">
                <a:latin typeface="Arial MT"/>
                <a:cs typeface="Arial MT"/>
              </a:rPr>
              <a:t> </a:t>
            </a:r>
            <a:r>
              <a:rPr sz="3050" spc="-10" dirty="0">
                <a:latin typeface="Arial MT"/>
                <a:cs typeface="Arial MT"/>
              </a:rPr>
              <a:t>(PoC)</a:t>
            </a:r>
            <a:endParaRPr sz="3050" dirty="0">
              <a:latin typeface="Arial MT"/>
              <a:cs typeface="Arial MT"/>
            </a:endParaRPr>
          </a:p>
        </p:txBody>
      </p:sp>
      <p:sp>
        <p:nvSpPr>
          <p:cNvPr id="19" name="object 12">
            <a:extLst>
              <a:ext uri="{FF2B5EF4-FFF2-40B4-BE49-F238E27FC236}">
                <a16:creationId xmlns:a16="http://schemas.microsoft.com/office/drawing/2014/main" id="{C3DBCDDB-30E4-CBE0-0677-F13D6A8BD82A}"/>
              </a:ext>
            </a:extLst>
          </p:cNvPr>
          <p:cNvSpPr txBox="1"/>
          <p:nvPr/>
        </p:nvSpPr>
        <p:spPr>
          <a:xfrm>
            <a:off x="9091083" y="7101416"/>
            <a:ext cx="7345045" cy="1040028"/>
          </a:xfrm>
          <a:prstGeom prst="rect">
            <a:avLst/>
          </a:prstGeom>
          <a:ln w="21166">
            <a:solidFill>
              <a:srgbClr val="131313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232535" marR="290830" indent="-6350">
              <a:lnSpc>
                <a:spcPts val="3400"/>
              </a:lnSpc>
              <a:spcBef>
                <a:spcPts val="1310"/>
              </a:spcBef>
            </a:pPr>
            <a:r>
              <a:rPr sz="3300" spc="-200" dirty="0">
                <a:latin typeface="Arial MT"/>
                <a:cs typeface="Arial MT"/>
              </a:rPr>
              <a:t>Dokumen</a:t>
            </a:r>
            <a:r>
              <a:rPr sz="3300" spc="30" dirty="0">
                <a:latin typeface="Arial MT"/>
                <a:cs typeface="Arial MT"/>
              </a:rPr>
              <a:t> </a:t>
            </a:r>
            <a:r>
              <a:rPr sz="3300" spc="-165" dirty="0">
                <a:latin typeface="Arial MT"/>
                <a:cs typeface="Arial MT"/>
              </a:rPr>
              <a:t>Riset:</a:t>
            </a:r>
            <a:r>
              <a:rPr sz="3300" spc="-60" dirty="0">
                <a:latin typeface="Arial MT"/>
                <a:cs typeface="Arial MT"/>
              </a:rPr>
              <a:t> </a:t>
            </a:r>
            <a:r>
              <a:rPr sz="3300" spc="-110" dirty="0">
                <a:latin typeface="Arial MT"/>
                <a:cs typeface="Arial MT"/>
              </a:rPr>
              <a:t>Political</a:t>
            </a:r>
            <a:r>
              <a:rPr sz="3300" spc="-75" dirty="0">
                <a:latin typeface="Arial MT"/>
                <a:cs typeface="Arial MT"/>
              </a:rPr>
              <a:t> </a:t>
            </a:r>
            <a:r>
              <a:rPr sz="3300" spc="-170" dirty="0">
                <a:latin typeface="Arial MT"/>
                <a:cs typeface="Arial MT"/>
              </a:rPr>
              <a:t>Economy </a:t>
            </a:r>
            <a:r>
              <a:rPr sz="3300" dirty="0">
                <a:latin typeface="Arial MT"/>
                <a:cs typeface="Arial MT"/>
              </a:rPr>
              <a:t>of</a:t>
            </a:r>
            <a:r>
              <a:rPr sz="3300" spc="-135" dirty="0">
                <a:latin typeface="Arial MT"/>
                <a:cs typeface="Arial MT"/>
              </a:rPr>
              <a:t> </a:t>
            </a:r>
            <a:r>
              <a:rPr sz="3300" spc="-190" dirty="0">
                <a:latin typeface="Arial MT"/>
                <a:cs typeface="Arial MT"/>
              </a:rPr>
              <a:t>Data</a:t>
            </a:r>
            <a:r>
              <a:rPr sz="3300" spc="-5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Control</a:t>
            </a:r>
            <a:endParaRPr sz="3300" dirty="0">
              <a:latin typeface="Arial MT"/>
              <a:cs typeface="Arial MT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9C30E6B-7756-82D3-231A-25C540E9A3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1075" y="4339154"/>
            <a:ext cx="977975" cy="8644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>
            <a:extLst>
              <a:ext uri="{FF2B5EF4-FFF2-40B4-BE49-F238E27FC236}">
                <a16:creationId xmlns:a16="http://schemas.microsoft.com/office/drawing/2014/main" id="{D9B9C731-37EA-8929-0D99-815D5C3F7B0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9750" y="5831729"/>
            <a:ext cx="7264400" cy="1422400"/>
          </a:xfrm>
          <a:prstGeom prst="rect">
            <a:avLst/>
          </a:prstGeom>
        </p:spPr>
      </p:pic>
      <p:pic>
        <p:nvPicPr>
          <p:cNvPr id="19" name="object 3">
            <a:extLst>
              <a:ext uri="{FF2B5EF4-FFF2-40B4-BE49-F238E27FC236}">
                <a16:creationId xmlns:a16="http://schemas.microsoft.com/office/drawing/2014/main" id="{4F3D07FE-6093-6E9F-4132-1865F25F492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17050" y="4269629"/>
            <a:ext cx="7277100" cy="1371600"/>
          </a:xfrm>
          <a:prstGeom prst="rect">
            <a:avLst/>
          </a:prstGeom>
        </p:spPr>
      </p:pic>
      <p:sp>
        <p:nvSpPr>
          <p:cNvPr id="15" name="Freeform 2">
            <a:extLst>
              <a:ext uri="{FF2B5EF4-FFF2-40B4-BE49-F238E27FC236}">
                <a16:creationId xmlns:a16="http://schemas.microsoft.com/office/drawing/2014/main" id="{08D7516D-B860-CA08-D44F-1752F94F5A71}"/>
              </a:ext>
            </a:extLst>
          </p:cNvPr>
          <p:cNvSpPr/>
          <p:nvPr/>
        </p:nvSpPr>
        <p:spPr>
          <a:xfrm>
            <a:off x="0" y="1"/>
            <a:ext cx="17475203" cy="1472852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56222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F5757B52-60F4-E436-5226-89F7FA9D248A}"/>
              </a:ext>
            </a:extLst>
          </p:cNvPr>
          <p:cNvSpPr/>
          <p:nvPr/>
        </p:nvSpPr>
        <p:spPr>
          <a:xfrm>
            <a:off x="0" y="0"/>
            <a:ext cx="17462500" cy="1472852"/>
          </a:xfrm>
          <a:custGeom>
            <a:avLst/>
            <a:gdLst/>
            <a:ahLst/>
            <a:cxnLst/>
            <a:rect l="l" t="t" r="r" b="b"/>
            <a:pathLst>
              <a:path w="17462500" h="939800">
                <a:moveTo>
                  <a:pt x="17462500" y="939800"/>
                </a:moveTo>
                <a:lnTo>
                  <a:pt x="0" y="939800"/>
                </a:lnTo>
                <a:lnTo>
                  <a:pt x="0" y="0"/>
                </a:lnTo>
                <a:lnTo>
                  <a:pt x="17462500" y="0"/>
                </a:lnTo>
                <a:lnTo>
                  <a:pt x="17462500" y="939800"/>
                </a:lnTo>
                <a:close/>
              </a:path>
            </a:pathLst>
          </a:custGeom>
          <a:solidFill>
            <a:srgbClr val="267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378450" y="481611"/>
            <a:ext cx="64770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4400" dirty="0">
                <a:solidFill>
                  <a:srgbClr val="E8FAFD"/>
                </a:solidFill>
                <a:latin typeface="Barlow Bold"/>
                <a:ea typeface="Barlow Bold"/>
                <a:cs typeface="Barlow Bold"/>
                <a:sym typeface="Barlow Bold"/>
              </a:rPr>
              <a:t>2026 (Technical Assess)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3390" y="1916076"/>
            <a:ext cx="14935200" cy="826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5000" b="1" dirty="0" err="1">
                <a:solidFill>
                  <a:srgbClr val="22292B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Kalkulasi</a:t>
            </a:r>
            <a:r>
              <a:rPr lang="en-US" sz="5000" b="1" dirty="0">
                <a:solidFill>
                  <a:srgbClr val="22292B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5000" b="1" dirty="0" err="1">
                <a:solidFill>
                  <a:srgbClr val="22292B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Ilmiah</a:t>
            </a:r>
            <a:r>
              <a:rPr lang="en-US" sz="5000" b="1" dirty="0">
                <a:solidFill>
                  <a:srgbClr val="22292B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&amp; </a:t>
            </a:r>
            <a:r>
              <a:rPr lang="en-US" sz="5000" b="1" dirty="0" err="1">
                <a:solidFill>
                  <a:srgbClr val="22292B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Penetapan</a:t>
            </a:r>
            <a:r>
              <a:rPr lang="en-US" sz="5000" b="1" dirty="0">
                <a:solidFill>
                  <a:srgbClr val="22292B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5000" b="1" dirty="0" err="1">
                <a:solidFill>
                  <a:srgbClr val="22292B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Ambang</a:t>
            </a:r>
            <a:r>
              <a:rPr lang="en-US" sz="5000" b="1" dirty="0">
                <a:solidFill>
                  <a:srgbClr val="22292B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Batas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5398" y="3597747"/>
            <a:ext cx="1343025" cy="41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2292B"/>
                </a:solidFill>
                <a:latin typeface="Barlow Bold"/>
                <a:ea typeface="Barlow Bold"/>
                <a:cs typeface="Barlow Bold"/>
                <a:sym typeface="Barlow Bold"/>
              </a:rPr>
              <a:t>Activities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29750" y="3427718"/>
            <a:ext cx="4048125" cy="497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dirty="0">
                <a:solidFill>
                  <a:srgbClr val="22292B"/>
                </a:solidFill>
                <a:latin typeface="Barlow Bold"/>
                <a:ea typeface="Barlow Bold"/>
                <a:cs typeface="Barlow Bold"/>
                <a:sym typeface="Barlow Bold"/>
              </a:rPr>
              <a:t>Key Deliverables/</a:t>
            </a:r>
            <a:r>
              <a:rPr lang="en-US" sz="2900" dirty="0" err="1">
                <a:solidFill>
                  <a:srgbClr val="22292B"/>
                </a:solidFill>
                <a:latin typeface="Barlow Bold"/>
                <a:ea typeface="Barlow Bold"/>
                <a:cs typeface="Barlow Bold"/>
                <a:sym typeface="Barlow Bold"/>
              </a:rPr>
              <a:t>Luaran</a:t>
            </a:r>
            <a:endParaRPr lang="en-US" sz="2900" dirty="0">
              <a:solidFill>
                <a:srgbClr val="22292B"/>
              </a:solidFill>
              <a:latin typeface="Barlow Bold"/>
              <a:ea typeface="Barlow Bold"/>
              <a:cs typeface="Barlow Bold"/>
              <a:sym typeface="Barlow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767954" y="4587641"/>
            <a:ext cx="4924425" cy="791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711" dirty="0">
                <a:solidFill>
                  <a:srgbClr val="161616"/>
                </a:solidFill>
                <a:latin typeface="Barlow Bold"/>
                <a:ea typeface="Barlow Bold"/>
                <a:cs typeface="Barlow Bold"/>
                <a:sym typeface="Barlow Bold"/>
              </a:rPr>
              <a:t>Spatial Mapping: </a:t>
            </a:r>
            <a:r>
              <a:rPr lang="en-US" sz="2400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Peta </a:t>
            </a:r>
            <a:r>
              <a:rPr lang="en-US" sz="2400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Kapasitas</a:t>
            </a:r>
            <a:endParaRPr lang="en-US" sz="2400" dirty="0">
              <a:solidFill>
                <a:srgbClr val="161616"/>
              </a:solidFill>
              <a:latin typeface="Inter" panose="02000503000000020004" pitchFamily="2" charset="0"/>
              <a:ea typeface="Inter" panose="02000503000000020004" pitchFamily="2" charset="0"/>
              <a:cs typeface="Barlow Bold"/>
              <a:sym typeface="Barlow Bold"/>
            </a:endParaRPr>
          </a:p>
          <a:p>
            <a:pPr algn="l">
              <a:lnSpc>
                <a:spcPts val="3228"/>
              </a:lnSpc>
            </a:pPr>
            <a:r>
              <a:rPr lang="en-US" sz="2400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Ekologis</a:t>
            </a:r>
            <a:endParaRPr lang="en-US" sz="2400" dirty="0">
              <a:solidFill>
                <a:srgbClr val="161616"/>
              </a:solidFill>
              <a:latin typeface="Inter" panose="02000503000000020004" pitchFamily="2" charset="0"/>
              <a:ea typeface="Inter" panose="02000503000000020004" pitchFamily="2" charset="0"/>
              <a:cs typeface="Barlow Bold"/>
              <a:sym typeface="Barlow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780726" y="6105468"/>
            <a:ext cx="5111734" cy="769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458" dirty="0">
                <a:solidFill>
                  <a:srgbClr val="161616"/>
                </a:solidFill>
                <a:latin typeface="Barlow Bold"/>
                <a:ea typeface="Barlow Bold"/>
                <a:cs typeface="Barlow Bold"/>
                <a:sym typeface="Barlow Bold"/>
              </a:rPr>
              <a:t>Policy Brief: </a:t>
            </a:r>
            <a:r>
              <a:rPr lang="en-US" sz="2400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Rekomendasi</a:t>
            </a:r>
            <a:r>
              <a:rPr lang="en-US" sz="2400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400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Pemda</a:t>
            </a:r>
            <a:endParaRPr lang="en-US" sz="2400" dirty="0">
              <a:solidFill>
                <a:srgbClr val="161616"/>
              </a:solidFill>
              <a:latin typeface="Inter" panose="02000503000000020004" pitchFamily="2" charset="0"/>
              <a:ea typeface="Inter" panose="02000503000000020004" pitchFamily="2" charset="0"/>
              <a:cs typeface="Barlow Bold"/>
              <a:sym typeface="Barlow Bold"/>
            </a:endParaRPr>
          </a:p>
          <a:p>
            <a:pPr algn="l">
              <a:lnSpc>
                <a:spcPts val="3127"/>
              </a:lnSpc>
            </a:pPr>
            <a:r>
              <a:rPr lang="en-US" sz="2400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(Studi Kasus Sulawesi)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40450" y="8939059"/>
            <a:ext cx="2943225" cy="33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sz="1892" spc="66" dirty="0" err="1">
                <a:solidFill>
                  <a:srgbClr val="22292B"/>
                </a:solidFill>
                <a:latin typeface="Roboto"/>
                <a:ea typeface="Roboto"/>
                <a:cs typeface="Roboto"/>
                <a:sym typeface="Roboto"/>
              </a:rPr>
              <a:t>Sumber</a:t>
            </a:r>
            <a:r>
              <a:rPr lang="en-US" sz="1892" spc="66" dirty="0">
                <a:solidFill>
                  <a:srgbClr val="22292B"/>
                </a:solidFill>
                <a:latin typeface="Roboto"/>
                <a:ea typeface="Roboto"/>
                <a:cs typeface="Roboto"/>
                <a:sym typeface="Roboto"/>
              </a:rPr>
              <a:t>: Lampiran Teknis</a:t>
            </a: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A0DD4547-DDB7-9AE1-054E-E09FB0492104}"/>
              </a:ext>
            </a:extLst>
          </p:cNvPr>
          <p:cNvSpPr txBox="1">
            <a:spLocks/>
          </p:cNvSpPr>
          <p:nvPr/>
        </p:nvSpPr>
        <p:spPr>
          <a:xfrm>
            <a:off x="1289104" y="4205230"/>
            <a:ext cx="7063105" cy="3105978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365" marR="313690" indent="-319405">
              <a:lnSpc>
                <a:spcPct val="102000"/>
              </a:lnSpc>
              <a:spcBef>
                <a:spcPts val="45"/>
              </a:spcBef>
              <a:buSzPct val="96551"/>
              <a:buFont typeface="Arial" pitchFamily="34" charset="0"/>
              <a:buAutoNum type="arabicPeriod"/>
              <a:tabLst>
                <a:tab pos="386715" algn="l"/>
              </a:tabLst>
            </a:pPr>
            <a:r>
              <a:rPr lang="en-US" sz="2400" b="1" dirty="0">
                <a:latin typeface="Inter" panose="02000503000000020004" pitchFamily="2" charset="0"/>
                <a:ea typeface="Inter" panose="02000503000000020004" pitchFamily="2" charset="0"/>
              </a:rPr>
              <a:t>Biocapacity</a:t>
            </a:r>
            <a:r>
              <a:rPr lang="en-US" sz="2400" b="1" spc="335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b="1" dirty="0">
                <a:latin typeface="Inter" panose="02000503000000020004" pitchFamily="2" charset="0"/>
                <a:ea typeface="Inter" panose="02000503000000020004" pitchFamily="2" charset="0"/>
              </a:rPr>
              <a:t>Calculation</a:t>
            </a: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r>
              <a:rPr lang="en-US" sz="2400" spc="385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spc="-65" dirty="0" err="1">
                <a:latin typeface="Inter" panose="02000503000000020004" pitchFamily="2" charset="0"/>
                <a:ea typeface="Inter" panose="02000503000000020004" pitchFamily="2" charset="0"/>
              </a:rPr>
              <a:t>Menggunakan</a:t>
            </a:r>
            <a:r>
              <a:rPr lang="en-US" sz="2400" spc="-65" dirty="0">
                <a:latin typeface="Inter" panose="02000503000000020004" pitchFamily="2" charset="0"/>
                <a:ea typeface="Inter" panose="02000503000000020004" pitchFamily="2" charset="0"/>
              </a:rPr>
              <a:t> 	</a:t>
            </a:r>
            <a:r>
              <a:rPr lang="en-US" sz="2400" spc="-20" dirty="0" err="1">
                <a:latin typeface="Inter" panose="02000503000000020004" pitchFamily="2" charset="0"/>
                <a:ea typeface="Inter" panose="02000503000000020004" pitchFamily="2" charset="0"/>
              </a:rPr>
              <a:t>standar</a:t>
            </a:r>
            <a:r>
              <a:rPr lang="en-US" sz="2400" spc="-1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b="1" spc="-2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rPr>
              <a:t>NFA</a:t>
            </a:r>
            <a:r>
              <a:rPr lang="en-US" sz="2400" b="1" spc="-20" dirty="0"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</a:p>
          <a:p>
            <a:pPr marL="370205" indent="-325755">
              <a:spcBef>
                <a:spcPts val="20"/>
              </a:spcBef>
              <a:buFont typeface="Arial" pitchFamily="34" charset="0"/>
              <a:buAutoNum type="arabicPeriod"/>
              <a:tabLst>
                <a:tab pos="370205" algn="l"/>
              </a:tabLst>
            </a:pPr>
            <a:r>
              <a:rPr lang="en-US" sz="2400" b="1" spc="80" dirty="0">
                <a:latin typeface="Inter" panose="02000503000000020004" pitchFamily="2" charset="0"/>
                <a:ea typeface="Inter" panose="02000503000000020004" pitchFamily="2" charset="0"/>
              </a:rPr>
              <a:t>Bottom-</a:t>
            </a:r>
            <a:r>
              <a:rPr lang="en-US" sz="2400" b="1" spc="90" dirty="0">
                <a:latin typeface="Inter" panose="02000503000000020004" pitchFamily="2" charset="0"/>
                <a:ea typeface="Inter" panose="02000503000000020004" pitchFamily="2" charset="0"/>
              </a:rPr>
              <a:t>up</a:t>
            </a:r>
            <a:r>
              <a:rPr lang="en-US" sz="2400" b="1" spc="95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b="1" spc="-90" dirty="0">
                <a:latin typeface="Inter" panose="02000503000000020004" pitchFamily="2" charset="0"/>
                <a:ea typeface="Inter" panose="02000503000000020004" pitchFamily="2" charset="0"/>
              </a:rPr>
              <a:t>CF</a:t>
            </a:r>
            <a:r>
              <a:rPr lang="en-US" sz="2400" b="1" spc="15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4000" b="1" baseline="-5847" dirty="0">
                <a:latin typeface="Inter" panose="02000503000000020004" pitchFamily="2" charset="0"/>
                <a:ea typeface="Inter" panose="02000503000000020004" pitchFamily="2" charset="0"/>
              </a:rPr>
              <a:t>Assessment</a:t>
            </a:r>
            <a:r>
              <a:rPr lang="en-US" sz="4000" baseline="-5847" dirty="0"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r>
              <a:rPr lang="en-US" sz="4000" spc="465" baseline="-5847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spc="-10" dirty="0" err="1">
                <a:latin typeface="Inter" panose="02000503000000020004" pitchFamily="2" charset="0"/>
                <a:ea typeface="Inter" panose="02000503000000020004" pitchFamily="2" charset="0"/>
              </a:rPr>
              <a:t>Perhitungan</a:t>
            </a:r>
            <a:r>
              <a:rPr lang="en-US" sz="2400" spc="-1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detail</a:t>
            </a:r>
            <a:r>
              <a:rPr lang="en-US" sz="2400" spc="-2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spc="-85" dirty="0">
                <a:latin typeface="Inter" panose="02000503000000020004" pitchFamily="2" charset="0"/>
                <a:ea typeface="Inter" panose="02000503000000020004" pitchFamily="2" charset="0"/>
              </a:rPr>
              <a:t>Pangan,</a:t>
            </a:r>
            <a:r>
              <a:rPr lang="en-US" sz="2400" spc="-65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spc="-85" dirty="0" err="1">
                <a:latin typeface="Inter" panose="02000503000000020004" pitchFamily="2" charset="0"/>
                <a:ea typeface="Inter" panose="02000503000000020004" pitchFamily="2" charset="0"/>
              </a:rPr>
              <a:t>Perumahan</a:t>
            </a:r>
            <a:r>
              <a:rPr lang="en-US" sz="2400" spc="-85" dirty="0">
                <a:latin typeface="Inter" panose="02000503000000020004" pitchFamily="2" charset="0"/>
                <a:ea typeface="Inter" panose="02000503000000020004" pitchFamily="2" charset="0"/>
              </a:rPr>
              <a:t>,</a:t>
            </a:r>
            <a:r>
              <a:rPr lang="en-US" sz="2400" spc="-1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spc="-10" dirty="0" err="1">
                <a:latin typeface="Inter" panose="02000503000000020004" pitchFamily="2" charset="0"/>
                <a:ea typeface="Inter" panose="02000503000000020004" pitchFamily="2" charset="0"/>
              </a:rPr>
              <a:t>Mobilitas</a:t>
            </a:r>
            <a:r>
              <a:rPr lang="en-US" sz="2400" spc="-10" dirty="0"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</a:p>
          <a:p>
            <a:pPr marL="379730" indent="-340360">
              <a:spcBef>
                <a:spcPts val="120"/>
              </a:spcBef>
              <a:buFont typeface="Arial" pitchFamily="34" charset="0"/>
              <a:buAutoNum type="arabicPeriod" startAt="3"/>
              <a:tabLst>
                <a:tab pos="379730" algn="l"/>
              </a:tabLst>
            </a:pPr>
            <a:r>
              <a:rPr lang="en-US" sz="2400" spc="55" dirty="0">
                <a:latin typeface="Inter" panose="02000503000000020004" pitchFamily="2" charset="0"/>
                <a:ea typeface="Inter" panose="02000503000000020004" pitchFamily="2" charset="0"/>
              </a:rPr>
              <a:t>Scientific</a:t>
            </a:r>
            <a:r>
              <a:rPr lang="en-US" sz="2400" spc="17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Threshold</a:t>
            </a:r>
            <a:r>
              <a:rPr lang="en-US" sz="2400" spc="6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Setting:</a:t>
            </a:r>
            <a:r>
              <a:rPr lang="en-US" sz="2400" spc="21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spc="-10" dirty="0" err="1">
                <a:latin typeface="Inter" panose="02000503000000020004" pitchFamily="2" charset="0"/>
                <a:ea typeface="Inter" panose="02000503000000020004" pitchFamily="2" charset="0"/>
              </a:rPr>
              <a:t>Penetapan</a:t>
            </a:r>
            <a:r>
              <a:rPr lang="en-US" sz="2400" spc="-1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b="1" dirty="0">
                <a:solidFill>
                  <a:srgbClr val="087E46"/>
                </a:solidFill>
                <a:latin typeface="Inter" panose="02000503000000020004" pitchFamily="2" charset="0"/>
                <a:ea typeface="Inter" panose="02000503000000020004" pitchFamily="2" charset="0"/>
              </a:rPr>
              <a:t>Batas</a:t>
            </a:r>
            <a:r>
              <a:rPr lang="en-US" sz="2400" b="1" spc="-85" dirty="0">
                <a:solidFill>
                  <a:srgbClr val="087E46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b="1" spc="95" dirty="0" err="1">
                <a:solidFill>
                  <a:srgbClr val="077E48"/>
                </a:solidFill>
                <a:latin typeface="Inter" panose="02000503000000020004" pitchFamily="2" charset="0"/>
                <a:ea typeface="Inter" panose="02000503000000020004" pitchFamily="2" charset="0"/>
              </a:rPr>
              <a:t>Kritis</a:t>
            </a:r>
            <a:r>
              <a:rPr lang="en-US" sz="2400" b="1" spc="-30" dirty="0">
                <a:solidFill>
                  <a:srgbClr val="077E48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spc="-10" dirty="0" err="1">
                <a:latin typeface="Inter" panose="02000503000000020004" pitchFamily="2" charset="0"/>
                <a:ea typeface="Inter" panose="02000503000000020004" pitchFamily="2" charset="0"/>
              </a:rPr>
              <a:t>Defisit</a:t>
            </a:r>
            <a:r>
              <a:rPr lang="en-US" sz="2400" spc="-10" dirty="0"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  <a:endParaRPr lang="en-US" sz="24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367665" indent="-329565">
              <a:spcBef>
                <a:spcPts val="180"/>
              </a:spcBef>
              <a:buFont typeface="Arial" pitchFamily="34" charset="0"/>
              <a:buAutoNum type="arabicPeriod" startAt="4"/>
              <a:tabLst>
                <a:tab pos="367665" algn="l"/>
              </a:tabLst>
            </a:pP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Excluded</a:t>
            </a:r>
            <a:r>
              <a:rPr lang="en-US" sz="2400" spc="175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Zones</a:t>
            </a:r>
            <a:r>
              <a:rPr lang="en-US" sz="2400" spc="-15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Delimitation:</a:t>
            </a:r>
            <a:r>
              <a:rPr lang="en-US" sz="2400" spc="204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spc="-10" dirty="0" err="1">
                <a:latin typeface="Inter" panose="02000503000000020004" pitchFamily="2" charset="0"/>
                <a:ea typeface="Inter" panose="02000503000000020004" pitchFamily="2" charset="0"/>
              </a:rPr>
              <a:t>Penetapan</a:t>
            </a:r>
            <a:r>
              <a:rPr lang="en-US" sz="2400" spc="-1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dirty="0" err="1">
                <a:latin typeface="Inter" panose="02000503000000020004" pitchFamily="2" charset="0"/>
                <a:ea typeface="Inter" panose="02000503000000020004" pitchFamily="2" charset="0"/>
              </a:rPr>
              <a:t>teknis</a:t>
            </a:r>
            <a:r>
              <a:rPr lang="en-US" sz="2400" spc="6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b="1" spc="-10" dirty="0">
                <a:solidFill>
                  <a:srgbClr val="C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Zona</a:t>
            </a:r>
            <a:r>
              <a:rPr lang="en-US" sz="2400" b="1" spc="-150" dirty="0">
                <a:solidFill>
                  <a:srgbClr val="C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b="1" spc="-10" dirty="0">
                <a:solidFill>
                  <a:srgbClr val="C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Merah</a:t>
            </a:r>
            <a:r>
              <a:rPr lang="en-US" sz="2400" spc="-10" dirty="0"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  <a:endParaRPr lang="en-US" sz="2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34B26C5-3E71-839A-F4BF-9EF6BB81EE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5650" y="4511441"/>
            <a:ext cx="1001027" cy="974959"/>
          </a:xfrm>
          <a:prstGeom prst="rect">
            <a:avLst/>
          </a:prstGeom>
        </p:spPr>
      </p:pic>
      <p:sp>
        <p:nvSpPr>
          <p:cNvPr id="22" name="Freeform 7">
            <a:extLst>
              <a:ext uri="{FF2B5EF4-FFF2-40B4-BE49-F238E27FC236}">
                <a16:creationId xmlns:a16="http://schemas.microsoft.com/office/drawing/2014/main" id="{00778526-9F6F-914D-C582-F8D901502EA9}"/>
              </a:ext>
            </a:extLst>
          </p:cNvPr>
          <p:cNvSpPr/>
          <p:nvPr/>
        </p:nvSpPr>
        <p:spPr>
          <a:xfrm>
            <a:off x="16103600" y="8616194"/>
            <a:ext cx="628650" cy="628650"/>
          </a:xfrm>
          <a:custGeom>
            <a:avLst/>
            <a:gdLst/>
            <a:ahLst/>
            <a:cxnLst/>
            <a:rect l="l" t="t" r="r" b="b"/>
            <a:pathLst>
              <a:path w="217174" h="217174">
                <a:moveTo>
                  <a:pt x="0" y="0"/>
                </a:moveTo>
                <a:lnTo>
                  <a:pt x="217174" y="0"/>
                </a:lnTo>
                <a:lnTo>
                  <a:pt x="217174" y="217174"/>
                </a:lnTo>
                <a:lnTo>
                  <a:pt x="0" y="2171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7">
            <a:extLst>
              <a:ext uri="{FF2B5EF4-FFF2-40B4-BE49-F238E27FC236}">
                <a16:creationId xmlns:a16="http://schemas.microsoft.com/office/drawing/2014/main" id="{70FFD4E4-87B2-93A9-01BF-FE5757224C27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ject 2">
            <a:extLst>
              <a:ext uri="{FF2B5EF4-FFF2-40B4-BE49-F238E27FC236}">
                <a16:creationId xmlns:a16="http://schemas.microsoft.com/office/drawing/2014/main" id="{64E8DDED-596E-8DB7-4818-8AEA3336E43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09170" y="7087115"/>
            <a:ext cx="6864984" cy="1346776"/>
          </a:xfrm>
          <a:prstGeom prst="rect">
            <a:avLst/>
          </a:prstGeom>
        </p:spPr>
      </p:pic>
      <p:pic>
        <p:nvPicPr>
          <p:cNvPr id="16" name="object 3">
            <a:extLst>
              <a:ext uri="{FF2B5EF4-FFF2-40B4-BE49-F238E27FC236}">
                <a16:creationId xmlns:a16="http://schemas.microsoft.com/office/drawing/2014/main" id="{0444ED5E-6553-E0AD-D87B-F43ADABC45D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09170" y="4066950"/>
            <a:ext cx="6724415" cy="1342548"/>
          </a:xfrm>
          <a:prstGeom prst="rect">
            <a:avLst/>
          </a:prstGeom>
        </p:spPr>
      </p:pic>
      <p:grpSp>
        <p:nvGrpSpPr>
          <p:cNvPr id="17" name="object 5">
            <a:extLst>
              <a:ext uri="{FF2B5EF4-FFF2-40B4-BE49-F238E27FC236}">
                <a16:creationId xmlns:a16="http://schemas.microsoft.com/office/drawing/2014/main" id="{E30C56A5-7A12-D92E-1C10-ADD547AC3543}"/>
              </a:ext>
            </a:extLst>
          </p:cNvPr>
          <p:cNvGrpSpPr/>
          <p:nvPr/>
        </p:nvGrpSpPr>
        <p:grpSpPr>
          <a:xfrm>
            <a:off x="9803940" y="5734202"/>
            <a:ext cx="939800" cy="977900"/>
            <a:chOff x="7458011" y="5981700"/>
            <a:chExt cx="939800" cy="977900"/>
          </a:xfrm>
        </p:grpSpPr>
        <p:pic>
          <p:nvPicPr>
            <p:cNvPr id="19" name="object 7">
              <a:extLst>
                <a:ext uri="{FF2B5EF4-FFF2-40B4-BE49-F238E27FC236}">
                  <a16:creationId xmlns:a16="http://schemas.microsoft.com/office/drawing/2014/main" id="{D8ED3E06-4678-4BDE-08B6-3E499A118B3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58011" y="6559550"/>
              <a:ext cx="939800" cy="400050"/>
            </a:xfrm>
            <a:prstGeom prst="rect">
              <a:avLst/>
            </a:prstGeom>
          </p:spPr>
        </p:pic>
        <p:pic>
          <p:nvPicPr>
            <p:cNvPr id="20" name="object 8">
              <a:extLst>
                <a:ext uri="{FF2B5EF4-FFF2-40B4-BE49-F238E27FC236}">
                  <a16:creationId xmlns:a16="http://schemas.microsoft.com/office/drawing/2014/main" id="{4F13CA14-61C7-57F7-F8E4-7CB37857CC0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58011" y="5981700"/>
              <a:ext cx="914400" cy="577850"/>
            </a:xfrm>
            <a:prstGeom prst="rect">
              <a:avLst/>
            </a:prstGeom>
          </p:spPr>
        </p:pic>
      </p:grpSp>
      <p:sp>
        <p:nvSpPr>
          <p:cNvPr id="12" name="object 10">
            <a:extLst>
              <a:ext uri="{FF2B5EF4-FFF2-40B4-BE49-F238E27FC236}">
                <a16:creationId xmlns:a16="http://schemas.microsoft.com/office/drawing/2014/main" id="{5F59D609-639F-78AA-1166-62CF2B14E22F}"/>
              </a:ext>
            </a:extLst>
          </p:cNvPr>
          <p:cNvSpPr/>
          <p:nvPr/>
        </p:nvSpPr>
        <p:spPr>
          <a:xfrm>
            <a:off x="0" y="0"/>
            <a:ext cx="17462500" cy="1472852"/>
          </a:xfrm>
          <a:custGeom>
            <a:avLst/>
            <a:gdLst/>
            <a:ahLst/>
            <a:cxnLst/>
            <a:rect l="l" t="t" r="r" b="b"/>
            <a:pathLst>
              <a:path w="17462500" h="939800">
                <a:moveTo>
                  <a:pt x="17462500" y="939800"/>
                </a:moveTo>
                <a:lnTo>
                  <a:pt x="0" y="939800"/>
                </a:lnTo>
                <a:lnTo>
                  <a:pt x="0" y="0"/>
                </a:lnTo>
                <a:lnTo>
                  <a:pt x="17462500" y="0"/>
                </a:lnTo>
                <a:lnTo>
                  <a:pt x="17462500" y="939800"/>
                </a:lnTo>
                <a:close/>
              </a:path>
            </a:pathLst>
          </a:custGeom>
          <a:solidFill>
            <a:srgbClr val="253951"/>
          </a:solidFill>
        </p:spPr>
        <p:txBody>
          <a:bodyPr wrap="square" lIns="0" tIns="0" rIns="0" bIns="0" rtlCol="0"/>
          <a:lstStyle/>
          <a:p>
            <a:endParaRPr>
              <a:solidFill>
                <a:srgbClr val="253A4F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302250" y="304800"/>
            <a:ext cx="5638800" cy="748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dirty="0">
                <a:solidFill>
                  <a:srgbClr val="F4F7F9"/>
                </a:solidFill>
                <a:latin typeface="Barlow Bold"/>
                <a:ea typeface="Barlow Bold"/>
                <a:cs typeface="Barlow Bold"/>
                <a:sym typeface="Barlow Bold"/>
              </a:rPr>
              <a:t>2027 (Policy &amp; Monitor)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81247" y="2101850"/>
            <a:ext cx="11860415" cy="7916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4800" b="1" dirty="0">
                <a:solidFill>
                  <a:srgbClr val="111111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Integrasi OSS &amp; </a:t>
            </a:r>
            <a:r>
              <a:rPr lang="en-US" sz="4800" b="1" dirty="0" err="1">
                <a:solidFill>
                  <a:srgbClr val="111111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Penegakan</a:t>
            </a:r>
            <a:r>
              <a:rPr lang="en-US" sz="4800" b="1" dirty="0">
                <a:solidFill>
                  <a:srgbClr val="111111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4800" b="1" dirty="0" err="1">
                <a:solidFill>
                  <a:srgbClr val="111111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Regulasi</a:t>
            </a:r>
            <a:endParaRPr lang="en-US" sz="4800" b="1" dirty="0">
              <a:solidFill>
                <a:srgbClr val="111111"/>
              </a:solidFill>
              <a:latin typeface="Aileron Heavy" panose="020B0604020202020204" charset="0"/>
              <a:ea typeface="Inter ExtraBold" panose="02000503000000020004" pitchFamily="2" charset="0"/>
              <a:cs typeface="Barlow Bold"/>
              <a:sym typeface="Barlow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54125" y="3384550"/>
            <a:ext cx="1504950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111111"/>
                </a:solidFill>
                <a:latin typeface="Barlow Bold"/>
                <a:ea typeface="Barlow Bold"/>
                <a:cs typeface="Barlow Bold"/>
                <a:sym typeface="Barlow Bold"/>
              </a:rPr>
              <a:t>Activities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09170" y="3365500"/>
            <a:ext cx="4467225" cy="53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111111"/>
                </a:solidFill>
                <a:latin typeface="Barlow Bold"/>
                <a:ea typeface="Barlow Bold"/>
                <a:cs typeface="Barlow Bold"/>
                <a:sym typeface="Barlow Bold"/>
              </a:rPr>
              <a:t>Key Deliverables/Luaran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41079" y="4405944"/>
            <a:ext cx="5139624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2400" spc="98" dirty="0">
                <a:solidFill>
                  <a:srgbClr val="111111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Dashboard &amp; Integrasi OSS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41050" y="5728563"/>
            <a:ext cx="4476750" cy="983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37"/>
              </a:lnSpc>
            </a:pPr>
            <a:r>
              <a:rPr lang="en-US" sz="2400" spc="190" dirty="0" err="1">
                <a:solidFill>
                  <a:srgbClr val="111111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Kebijakan</a:t>
            </a:r>
            <a:r>
              <a:rPr lang="en-US" sz="2400" spc="190" dirty="0">
                <a:solidFill>
                  <a:srgbClr val="111111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 Moratorium</a:t>
            </a:r>
          </a:p>
          <a:p>
            <a:pPr>
              <a:lnSpc>
                <a:spcPts val="4037"/>
              </a:lnSpc>
            </a:pPr>
            <a:r>
              <a:rPr lang="en-US" sz="2400" spc="190" dirty="0">
                <a:solidFill>
                  <a:srgbClr val="111111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(</a:t>
            </a:r>
            <a:r>
              <a:rPr lang="en-US" sz="2400" spc="190" dirty="0" err="1">
                <a:solidFill>
                  <a:srgbClr val="111111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Naskah</a:t>
            </a:r>
            <a:r>
              <a:rPr lang="en-US" sz="2400" spc="190" dirty="0">
                <a:solidFill>
                  <a:srgbClr val="111111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 Akademik)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29253" y="7366778"/>
            <a:ext cx="5219700" cy="53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64"/>
              </a:lnSpc>
            </a:pPr>
            <a:r>
              <a:rPr lang="en-US" sz="2400" spc="98" dirty="0">
                <a:solidFill>
                  <a:srgbClr val="111111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Policy Roadmap Nasional</a:t>
            </a: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53987207-E18D-CE89-BDC8-1F4FB0A5EC36}"/>
              </a:ext>
            </a:extLst>
          </p:cNvPr>
          <p:cNvSpPr txBox="1">
            <a:spLocks/>
          </p:cNvSpPr>
          <p:nvPr/>
        </p:nvSpPr>
        <p:spPr>
          <a:xfrm>
            <a:off x="1128915" y="3928679"/>
            <a:ext cx="6864984" cy="3184974"/>
          </a:xfrm>
          <a:prstGeom prst="rect">
            <a:avLst/>
          </a:prstGeom>
        </p:spPr>
        <p:txBody>
          <a:bodyPr vert="horz" wrap="square" lIns="0" tIns="262255" rIns="0" bIns="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84835" marR="783590" indent="-436245">
              <a:spcBef>
                <a:spcPts val="2030"/>
              </a:spcBef>
              <a:buFont typeface="Arial" pitchFamily="34" charset="0"/>
              <a:buAutoNum type="arabicPeriod"/>
              <a:tabLst>
                <a:tab pos="596265" algn="l"/>
              </a:tabLst>
            </a:pPr>
            <a:r>
              <a:rPr lang="en-US" sz="2800" dirty="0">
                <a:latin typeface="Inter" panose="02000503000000020004" pitchFamily="2" charset="0"/>
                <a:ea typeface="Inter" panose="02000503000000020004" pitchFamily="2" charset="0"/>
              </a:rPr>
              <a:t>Integration to RTRW/KLHS:  Legal Drafting tata </a:t>
            </a:r>
            <a:r>
              <a:rPr lang="en-US" sz="2800" dirty="0" err="1">
                <a:latin typeface="Inter" panose="02000503000000020004" pitchFamily="2" charset="0"/>
                <a:ea typeface="Inter" panose="02000503000000020004" pitchFamily="2" charset="0"/>
              </a:rPr>
              <a:t>ruang</a:t>
            </a:r>
            <a:r>
              <a:rPr lang="en-US" sz="2800" dirty="0"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</a:p>
          <a:p>
            <a:pPr marL="594360" marR="1463040" indent="-432434">
              <a:lnSpc>
                <a:spcPct val="106700"/>
              </a:lnSpc>
              <a:spcBef>
                <a:spcPts val="944"/>
              </a:spcBef>
              <a:buFont typeface="Arial" pitchFamily="34" charset="0"/>
              <a:buAutoNum type="arabicPeriod"/>
              <a:tabLst>
                <a:tab pos="603250" algn="l"/>
              </a:tabLst>
            </a:pPr>
            <a:r>
              <a:rPr lang="en-US" sz="2800" dirty="0">
                <a:latin typeface="Inter" panose="02000503000000020004" pitchFamily="2" charset="0"/>
                <a:ea typeface="Inter" panose="02000503000000020004" pitchFamily="2" charset="0"/>
              </a:rPr>
              <a:t>Real-time Monitoring: </a:t>
            </a:r>
            <a:r>
              <a:rPr lang="en-US" sz="2800" dirty="0" err="1">
                <a:latin typeface="Inter" panose="02000503000000020004" pitchFamily="2" charset="0"/>
                <a:ea typeface="Inter" panose="02000503000000020004" pitchFamily="2" charset="0"/>
              </a:rPr>
              <a:t>lmplementasi</a:t>
            </a:r>
            <a:r>
              <a:rPr lang="en-US" sz="2800" dirty="0">
                <a:latin typeface="Inter" panose="02000503000000020004" pitchFamily="2" charset="0"/>
                <a:ea typeface="Inter" panose="02000503000000020004" pitchFamily="2" charset="0"/>
              </a:rPr>
              <a:t> Web-GIS.</a:t>
            </a:r>
          </a:p>
          <a:p>
            <a:pPr marL="597535" marR="5080" indent="-440690">
              <a:lnSpc>
                <a:spcPct val="106700"/>
              </a:lnSpc>
              <a:spcBef>
                <a:spcPts val="1000"/>
              </a:spcBef>
              <a:buFont typeface="Arial" pitchFamily="34" charset="0"/>
              <a:buAutoNum type="arabicPeriod"/>
              <a:tabLst>
                <a:tab pos="605155" algn="l"/>
              </a:tabLst>
            </a:pPr>
            <a:r>
              <a:rPr lang="en-US" sz="2800" dirty="0">
                <a:latin typeface="Inter" panose="02000503000000020004" pitchFamily="2" charset="0"/>
                <a:ea typeface="Inter" panose="02000503000000020004" pitchFamily="2" charset="0"/>
              </a:rPr>
              <a:t>Blocking System: Integrasi API 	</a:t>
            </a:r>
            <a:r>
              <a:rPr lang="en-US" sz="2800" dirty="0" err="1">
                <a:latin typeface="Inter" panose="02000503000000020004" pitchFamily="2" charset="0"/>
                <a:ea typeface="Inter" panose="02000503000000020004" pitchFamily="2" charset="0"/>
              </a:rPr>
              <a:t>dengan</a:t>
            </a:r>
            <a:r>
              <a:rPr lang="en-US" sz="28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800" dirty="0" err="1">
                <a:latin typeface="Inter" panose="02000503000000020004" pitchFamily="2" charset="0"/>
                <a:ea typeface="Inter" panose="02000503000000020004" pitchFamily="2" charset="0"/>
              </a:rPr>
              <a:t>sistem</a:t>
            </a:r>
            <a:r>
              <a:rPr lang="en-US" sz="2800" dirty="0">
                <a:latin typeface="Inter" panose="02000503000000020004" pitchFamily="2" charset="0"/>
                <a:ea typeface="Inter" panose="02000503000000020004" pitchFamily="2" charset="0"/>
              </a:rPr>
              <a:t> OSS.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FB78D1F-9152-1B55-0C39-89EE0507923A}"/>
              </a:ext>
            </a:extLst>
          </p:cNvPr>
          <p:cNvSpPr/>
          <p:nvPr/>
        </p:nvSpPr>
        <p:spPr>
          <a:xfrm>
            <a:off x="9609170" y="5584418"/>
            <a:ext cx="6724415" cy="1260828"/>
          </a:xfrm>
          <a:prstGeom prst="roundRect">
            <a:avLst>
              <a:gd name="adj" fmla="val 1500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F3FA4C5-EFE3-B2D3-2A6E-130B91268118}"/>
              </a:ext>
            </a:extLst>
          </p:cNvPr>
          <p:cNvSpPr/>
          <p:nvPr/>
        </p:nvSpPr>
        <p:spPr>
          <a:xfrm>
            <a:off x="16103600" y="8616194"/>
            <a:ext cx="628650" cy="628650"/>
          </a:xfrm>
          <a:custGeom>
            <a:avLst/>
            <a:gdLst/>
            <a:ahLst/>
            <a:cxnLst/>
            <a:rect l="l" t="t" r="r" b="b"/>
            <a:pathLst>
              <a:path w="217174" h="217174">
                <a:moveTo>
                  <a:pt x="0" y="0"/>
                </a:moveTo>
                <a:lnTo>
                  <a:pt x="217174" y="0"/>
                </a:lnTo>
                <a:lnTo>
                  <a:pt x="217174" y="217174"/>
                </a:lnTo>
                <a:lnTo>
                  <a:pt x="0" y="2171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7">
            <a:extLst>
              <a:ext uri="{FF2B5EF4-FFF2-40B4-BE49-F238E27FC236}">
                <a16:creationId xmlns:a16="http://schemas.microsoft.com/office/drawing/2014/main" id="{109232AC-248A-4873-F05A-C259E00E187A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52500" y="1417391"/>
            <a:ext cx="13030200" cy="826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4800" b="1" dirty="0">
                <a:solidFill>
                  <a:srgbClr val="1B1B1A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Produk </a:t>
            </a:r>
            <a:r>
              <a:rPr lang="en-US" sz="4800" b="1" dirty="0" err="1">
                <a:solidFill>
                  <a:srgbClr val="1B1B1A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Kebijakan</a:t>
            </a:r>
            <a:r>
              <a:rPr lang="en-US" sz="4800" b="1" dirty="0">
                <a:solidFill>
                  <a:srgbClr val="1B1B1A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&amp; </a:t>
            </a:r>
            <a:r>
              <a:rPr lang="en-US" sz="4800" b="1" dirty="0" err="1">
                <a:solidFill>
                  <a:srgbClr val="1B1B1A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Luaran</a:t>
            </a:r>
            <a:r>
              <a:rPr lang="en-US" sz="4800" b="1" dirty="0">
                <a:solidFill>
                  <a:srgbClr val="1B1B1A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4800" b="1" dirty="0" err="1">
                <a:solidFill>
                  <a:srgbClr val="1B1B1A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Strategis</a:t>
            </a:r>
            <a:endParaRPr lang="en-US" sz="4800" b="1" dirty="0">
              <a:solidFill>
                <a:srgbClr val="1B1B1A"/>
              </a:solidFill>
              <a:latin typeface="Aileron Heavy" panose="020B0604020202020204" charset="0"/>
              <a:ea typeface="Inter ExtraBold" panose="02000503000000020004" pitchFamily="2" charset="0"/>
              <a:cs typeface="Barlow Bold"/>
              <a:sym typeface="Barlow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070462" y="2909067"/>
            <a:ext cx="4181475" cy="1585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4"/>
              </a:lnSpc>
            </a:pPr>
            <a:r>
              <a:rPr lang="en-US" sz="3000" dirty="0" err="1">
                <a:solidFill>
                  <a:srgbClr val="0A0A0A"/>
                </a:solidFill>
                <a:latin typeface="Barlow Bold"/>
                <a:ea typeface="Barlow Bold"/>
                <a:cs typeface="Barlow Bold"/>
                <a:sym typeface="Barlow Bold"/>
              </a:rPr>
              <a:t>Naskah</a:t>
            </a:r>
            <a:r>
              <a:rPr lang="en-US" sz="3000" dirty="0">
                <a:solidFill>
                  <a:srgbClr val="0A0A0A"/>
                </a:solidFill>
                <a:latin typeface="Barlow Bold"/>
                <a:ea typeface="Barlow Bold"/>
                <a:cs typeface="Barlow Bold"/>
                <a:sym typeface="Barlow Bold"/>
              </a:rPr>
              <a:t> Akademik</a:t>
            </a:r>
          </a:p>
          <a:p>
            <a:pPr algn="l">
              <a:lnSpc>
                <a:spcPts val="4334"/>
              </a:lnSpc>
            </a:pPr>
            <a:r>
              <a:rPr lang="en-US" sz="2799" dirty="0">
                <a:solidFill>
                  <a:srgbClr val="0A0A0A"/>
                </a:solidFill>
                <a:latin typeface="Barlow Bold"/>
                <a:ea typeface="Barlow Bold"/>
                <a:cs typeface="Barlow Bold"/>
                <a:sym typeface="Barlow Bold"/>
              </a:rPr>
              <a:t>Moratorium</a:t>
            </a:r>
          </a:p>
          <a:p>
            <a:pPr algn="l">
              <a:lnSpc>
                <a:spcPts val="3715"/>
              </a:lnSpc>
            </a:pPr>
            <a:r>
              <a:rPr lang="en-US" sz="2400" dirty="0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Dasar </a:t>
            </a:r>
            <a:r>
              <a:rPr lang="en-US" sz="2400" dirty="0" err="1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hukum</a:t>
            </a:r>
            <a:r>
              <a:rPr lang="en-US" sz="2400" dirty="0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dirty="0" err="1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penundaan</a:t>
            </a:r>
            <a:r>
              <a:rPr lang="en-US" sz="2400" dirty="0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 izin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69555" y="5388012"/>
            <a:ext cx="3543300" cy="63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1"/>
              </a:lnSpc>
            </a:pPr>
            <a:r>
              <a:rPr lang="en-US" sz="3701" dirty="0" err="1">
                <a:solidFill>
                  <a:srgbClr val="0A0A0A"/>
                </a:solidFill>
                <a:latin typeface="Barlow Bold"/>
                <a:ea typeface="Barlow Bold"/>
                <a:cs typeface="Barlow Bold"/>
                <a:sym typeface="Barlow Bold"/>
              </a:rPr>
              <a:t>Laporan</a:t>
            </a:r>
            <a:r>
              <a:rPr lang="en-US" sz="3701" dirty="0">
                <a:solidFill>
                  <a:srgbClr val="0A0A0A"/>
                </a:solidFill>
                <a:latin typeface="Barlow Bold"/>
                <a:ea typeface="Barlow Bold"/>
                <a:cs typeface="Barlow Bold"/>
                <a:sym typeface="Barlow Bold"/>
              </a:rPr>
              <a:t> Political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94811" y="6061199"/>
            <a:ext cx="1752600" cy="573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dirty="0">
                <a:solidFill>
                  <a:srgbClr val="0A0A0A"/>
                </a:solidFill>
                <a:latin typeface="Barlow Bold"/>
                <a:ea typeface="Barlow Bold"/>
                <a:cs typeface="Barlow Bold"/>
                <a:sym typeface="Barlow Bold"/>
              </a:rPr>
              <a:t>Economy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70462" y="6724774"/>
            <a:ext cx="2795586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dirty="0" err="1">
                <a:solidFill>
                  <a:srgbClr val="1B1B1A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Analisis</a:t>
            </a:r>
            <a:r>
              <a:rPr lang="en-US" sz="2100" dirty="0">
                <a:solidFill>
                  <a:srgbClr val="1B1B1A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100" dirty="0" err="1">
                <a:solidFill>
                  <a:srgbClr val="1B1B1A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aktor</a:t>
            </a:r>
            <a:r>
              <a:rPr lang="en-US" sz="2100" dirty="0">
                <a:solidFill>
                  <a:srgbClr val="1B1B1A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data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46650" y="3225149"/>
            <a:ext cx="2724150" cy="993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5"/>
              </a:lnSpc>
            </a:pPr>
            <a:r>
              <a:rPr lang="en-US" sz="3501" dirty="0">
                <a:solidFill>
                  <a:srgbClr val="0A0A0A"/>
                </a:solidFill>
                <a:latin typeface="Barlow Bold"/>
                <a:ea typeface="Barlow Bold"/>
                <a:cs typeface="Barlow Bold"/>
                <a:sym typeface="Barlow Bold"/>
              </a:rPr>
              <a:t>Policy Briefs</a:t>
            </a:r>
          </a:p>
          <a:p>
            <a:pPr algn="l">
              <a:lnSpc>
                <a:spcPts val="2876"/>
              </a:lnSpc>
            </a:pPr>
            <a:r>
              <a:rPr lang="en-US" sz="2000" dirty="0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Panduan </a:t>
            </a:r>
            <a:r>
              <a:rPr lang="en-US" sz="2000" dirty="0" err="1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untuk</a:t>
            </a:r>
            <a:r>
              <a:rPr lang="en-US" sz="2000" dirty="0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Pemda</a:t>
            </a:r>
            <a:endParaRPr lang="en-US" sz="2000" dirty="0">
              <a:solidFill>
                <a:srgbClr val="1B1B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633043" y="5711949"/>
            <a:ext cx="2952750" cy="497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dirty="0">
                <a:solidFill>
                  <a:srgbClr val="0A0A0A"/>
                </a:solidFill>
                <a:latin typeface="Barlow Bold"/>
                <a:ea typeface="Barlow Bold"/>
                <a:cs typeface="Barlow Bold"/>
                <a:sym typeface="Barlow Bold"/>
              </a:rPr>
              <a:t>Shadow Database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62058" y="6350509"/>
            <a:ext cx="590550" cy="313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1"/>
              </a:lnSpc>
            </a:pPr>
            <a:r>
              <a:rPr lang="en-US" sz="1893">
                <a:solidFill>
                  <a:srgbClr val="264642"/>
                </a:solidFill>
                <a:latin typeface="Hussar Bold"/>
                <a:ea typeface="Hussar Bold"/>
                <a:cs typeface="Hussar Bold"/>
                <a:sym typeface="Hussar Bold"/>
              </a:rPr>
              <a:t>000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47781" y="6400800"/>
            <a:ext cx="3438525" cy="419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2"/>
              </a:lnSpc>
            </a:pPr>
            <a:r>
              <a:rPr lang="en-US" sz="2400" dirty="0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Aset digital </a:t>
            </a:r>
            <a:r>
              <a:rPr lang="en-US" sz="2400" dirty="0" err="1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permanen</a:t>
            </a:r>
            <a:endParaRPr lang="en-US" sz="2400" dirty="0">
              <a:solidFill>
                <a:srgbClr val="1B1B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307DB08-0F2C-96D4-EA9A-54C811BD053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3981" y="5400799"/>
            <a:ext cx="1752600" cy="1739900"/>
          </a:xfrm>
          <a:prstGeom prst="rect">
            <a:avLst/>
          </a:prstGeom>
        </p:spPr>
      </p:pic>
      <p:pic>
        <p:nvPicPr>
          <p:cNvPr id="16" name="object 4">
            <a:extLst>
              <a:ext uri="{FF2B5EF4-FFF2-40B4-BE49-F238E27FC236}">
                <a16:creationId xmlns:a16="http://schemas.microsoft.com/office/drawing/2014/main" id="{667FFD51-7402-26F3-D750-B9D5A20DBBE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95281" y="5400799"/>
            <a:ext cx="1701800" cy="1739900"/>
          </a:xfrm>
          <a:prstGeom prst="rect">
            <a:avLst/>
          </a:prstGeom>
        </p:spPr>
      </p:pic>
      <p:pic>
        <p:nvPicPr>
          <p:cNvPr id="17" name="object 5">
            <a:extLst>
              <a:ext uri="{FF2B5EF4-FFF2-40B4-BE49-F238E27FC236}">
                <a16:creationId xmlns:a16="http://schemas.microsoft.com/office/drawing/2014/main" id="{BD22531D-E126-F9D2-2324-5BB61C37ECD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3981" y="2936999"/>
            <a:ext cx="1752600" cy="1765300"/>
          </a:xfrm>
          <a:prstGeom prst="rect">
            <a:avLst/>
          </a:prstGeom>
        </p:spPr>
      </p:pic>
      <p:pic>
        <p:nvPicPr>
          <p:cNvPr id="18" name="object 6">
            <a:extLst>
              <a:ext uri="{FF2B5EF4-FFF2-40B4-BE49-F238E27FC236}">
                <a16:creationId xmlns:a16="http://schemas.microsoft.com/office/drawing/2014/main" id="{9103F4EA-C2C4-9279-4E7B-983D13DD5F1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47681" y="2886199"/>
            <a:ext cx="1384300" cy="1879600"/>
          </a:xfrm>
          <a:prstGeom prst="rect">
            <a:avLst/>
          </a:prstGeom>
        </p:spPr>
      </p:pic>
      <p:pic>
        <p:nvPicPr>
          <p:cNvPr id="19" name="object 2">
            <a:extLst>
              <a:ext uri="{FF2B5EF4-FFF2-40B4-BE49-F238E27FC236}">
                <a16:creationId xmlns:a16="http://schemas.microsoft.com/office/drawing/2014/main" id="{92576151-E291-637D-0A02-3364659D5071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2736" y="7375102"/>
            <a:ext cx="15570200" cy="2171700"/>
          </a:xfrm>
          <a:prstGeom prst="rect">
            <a:avLst/>
          </a:prstGeom>
        </p:spPr>
      </p:pic>
      <p:sp>
        <p:nvSpPr>
          <p:cNvPr id="20" name="Freeform 5">
            <a:extLst>
              <a:ext uri="{FF2B5EF4-FFF2-40B4-BE49-F238E27FC236}">
                <a16:creationId xmlns:a16="http://schemas.microsoft.com/office/drawing/2014/main" id="{8FA99D3F-23EF-0573-C8D1-F00FC87F6EE8}"/>
              </a:ext>
            </a:extLst>
          </p:cNvPr>
          <p:cNvSpPr/>
          <p:nvPr/>
        </p:nvSpPr>
        <p:spPr>
          <a:xfrm>
            <a:off x="863600" y="479072"/>
            <a:ext cx="833188" cy="848215"/>
          </a:xfrm>
          <a:custGeom>
            <a:avLst/>
            <a:gdLst/>
            <a:ahLst/>
            <a:cxnLst/>
            <a:rect l="l" t="t" r="r" b="b"/>
            <a:pathLst>
              <a:path w="274846" h="279803">
                <a:moveTo>
                  <a:pt x="83461" y="0"/>
                </a:moveTo>
                <a:lnTo>
                  <a:pt x="191385" y="0"/>
                </a:lnTo>
                <a:cubicBezTo>
                  <a:pt x="237479" y="0"/>
                  <a:pt x="274846" y="37367"/>
                  <a:pt x="274846" y="83461"/>
                </a:cubicBezTo>
                <a:lnTo>
                  <a:pt x="274846" y="196341"/>
                </a:lnTo>
                <a:cubicBezTo>
                  <a:pt x="274846" y="242436"/>
                  <a:pt x="237479" y="279803"/>
                  <a:pt x="191385" y="279803"/>
                </a:cubicBezTo>
                <a:lnTo>
                  <a:pt x="83461" y="279803"/>
                </a:lnTo>
                <a:cubicBezTo>
                  <a:pt x="37367" y="279803"/>
                  <a:pt x="0" y="242436"/>
                  <a:pt x="0" y="196341"/>
                </a:cubicBezTo>
                <a:lnTo>
                  <a:pt x="0" y="83461"/>
                </a:lnTo>
                <a:cubicBezTo>
                  <a:pt x="0" y="37367"/>
                  <a:pt x="37367" y="0"/>
                  <a:pt x="83461" y="0"/>
                </a:cubicBezTo>
                <a:close/>
              </a:path>
            </a:pathLst>
          </a:custGeom>
          <a:solidFill>
            <a:srgbClr val="092845"/>
          </a:solidFill>
        </p:spPr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5C962AF6-F383-527C-9F24-1BE2206E3FA7}"/>
              </a:ext>
            </a:extLst>
          </p:cNvPr>
          <p:cNvSpPr txBox="1"/>
          <p:nvPr/>
        </p:nvSpPr>
        <p:spPr>
          <a:xfrm>
            <a:off x="863600" y="541038"/>
            <a:ext cx="833188" cy="9637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76"/>
              </a:lnSpc>
            </a:pPr>
            <a:r>
              <a:rPr lang="en-US" sz="32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id="22" name="AutoShape 3">
            <a:extLst>
              <a:ext uri="{FF2B5EF4-FFF2-40B4-BE49-F238E27FC236}">
                <a16:creationId xmlns:a16="http://schemas.microsoft.com/office/drawing/2014/main" id="{BA308C0C-6993-2B96-5EAB-ABB7839467C5}"/>
              </a:ext>
            </a:extLst>
          </p:cNvPr>
          <p:cNvSpPr/>
          <p:nvPr/>
        </p:nvSpPr>
        <p:spPr>
          <a:xfrm>
            <a:off x="1035050" y="2362200"/>
            <a:ext cx="6965043" cy="0"/>
          </a:xfrm>
          <a:prstGeom prst="line">
            <a:avLst/>
          </a:prstGeom>
          <a:ln w="9525" cap="rnd">
            <a:solidFill>
              <a:srgbClr val="9D9CA2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AB0FF8F-8313-E789-A10F-C75903232954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850" y="5017202"/>
            <a:ext cx="7770004" cy="13308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4A7FB16F-54A4-8A09-4E90-ACB06AE31685}"/>
              </a:ext>
            </a:extLst>
          </p:cNvPr>
          <p:cNvSpPr txBox="1"/>
          <p:nvPr/>
        </p:nvSpPr>
        <p:spPr>
          <a:xfrm>
            <a:off x="952500" y="1417391"/>
            <a:ext cx="15932150" cy="814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4800" b="1" dirty="0">
                <a:solidFill>
                  <a:srgbClr val="1B1B1A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ALUR </a:t>
            </a:r>
            <a:r>
              <a:rPr lang="en-US" sz="4800" b="1" dirty="0" err="1">
                <a:solidFill>
                  <a:srgbClr val="1B1B1A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Penyelenggara</a:t>
            </a:r>
            <a:r>
              <a:rPr lang="en-US" sz="4800" b="1" dirty="0">
                <a:solidFill>
                  <a:srgbClr val="1B1B1A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an DDDTLH  (PP N- 22 </a:t>
            </a:r>
            <a:r>
              <a:rPr lang="en-US" sz="4800" b="1" dirty="0" err="1">
                <a:solidFill>
                  <a:srgbClr val="1B1B1A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th</a:t>
            </a:r>
            <a:r>
              <a:rPr lang="en-US" sz="4800" b="1" dirty="0">
                <a:solidFill>
                  <a:srgbClr val="1B1B1A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2021)</a:t>
            </a:r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63C8132D-9B1B-4065-37FE-10AE8DA6BBDD}"/>
              </a:ext>
            </a:extLst>
          </p:cNvPr>
          <p:cNvSpPr/>
          <p:nvPr/>
        </p:nvSpPr>
        <p:spPr>
          <a:xfrm>
            <a:off x="863600" y="479072"/>
            <a:ext cx="833188" cy="848215"/>
          </a:xfrm>
          <a:custGeom>
            <a:avLst/>
            <a:gdLst/>
            <a:ahLst/>
            <a:cxnLst/>
            <a:rect l="l" t="t" r="r" b="b"/>
            <a:pathLst>
              <a:path w="274846" h="279803">
                <a:moveTo>
                  <a:pt x="83461" y="0"/>
                </a:moveTo>
                <a:lnTo>
                  <a:pt x="191385" y="0"/>
                </a:lnTo>
                <a:cubicBezTo>
                  <a:pt x="237479" y="0"/>
                  <a:pt x="274846" y="37367"/>
                  <a:pt x="274846" y="83461"/>
                </a:cubicBezTo>
                <a:lnTo>
                  <a:pt x="274846" y="196341"/>
                </a:lnTo>
                <a:cubicBezTo>
                  <a:pt x="274846" y="242436"/>
                  <a:pt x="237479" y="279803"/>
                  <a:pt x="191385" y="279803"/>
                </a:cubicBezTo>
                <a:lnTo>
                  <a:pt x="83461" y="279803"/>
                </a:lnTo>
                <a:cubicBezTo>
                  <a:pt x="37367" y="279803"/>
                  <a:pt x="0" y="242436"/>
                  <a:pt x="0" y="196341"/>
                </a:cubicBezTo>
                <a:lnTo>
                  <a:pt x="0" y="83461"/>
                </a:lnTo>
                <a:cubicBezTo>
                  <a:pt x="0" y="37367"/>
                  <a:pt x="37367" y="0"/>
                  <a:pt x="83461" y="0"/>
                </a:cubicBezTo>
                <a:close/>
              </a:path>
            </a:pathLst>
          </a:custGeom>
          <a:solidFill>
            <a:srgbClr val="092845"/>
          </a:solidFill>
        </p:spPr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F7A9D936-B2FD-971E-009E-4F3CD98E7665}"/>
              </a:ext>
            </a:extLst>
          </p:cNvPr>
          <p:cNvSpPr txBox="1"/>
          <p:nvPr/>
        </p:nvSpPr>
        <p:spPr>
          <a:xfrm>
            <a:off x="863600" y="541038"/>
            <a:ext cx="833188" cy="9637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76"/>
              </a:lnSpc>
            </a:pPr>
            <a:r>
              <a:rPr lang="en-US" sz="32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50EE77ED-BC72-F908-01DA-92728DCC8EC6}"/>
              </a:ext>
            </a:extLst>
          </p:cNvPr>
          <p:cNvSpPr/>
          <p:nvPr/>
        </p:nvSpPr>
        <p:spPr>
          <a:xfrm>
            <a:off x="1035050" y="2362200"/>
            <a:ext cx="6965043" cy="0"/>
          </a:xfrm>
          <a:prstGeom prst="line">
            <a:avLst/>
          </a:prstGeom>
          <a:ln w="9525" cap="rnd">
            <a:solidFill>
              <a:srgbClr val="9D9CA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27">
            <a:extLst>
              <a:ext uri="{FF2B5EF4-FFF2-40B4-BE49-F238E27FC236}">
                <a16:creationId xmlns:a16="http://schemas.microsoft.com/office/drawing/2014/main" id="{EBB8E954-DC56-08D4-FB91-2583CCC46750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BEEFB5-6150-5D83-B4EB-38EC269F34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091" y="2680042"/>
            <a:ext cx="14325600" cy="638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050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864</Words>
  <Application>Microsoft Office PowerPoint</Application>
  <PresentationFormat>Custom</PresentationFormat>
  <Paragraphs>219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30" baseType="lpstr">
      <vt:lpstr>Anonymous Pro</vt:lpstr>
      <vt:lpstr>Kollektif</vt:lpstr>
      <vt:lpstr>Arial</vt:lpstr>
      <vt:lpstr>Montserrat Bold</vt:lpstr>
      <vt:lpstr>Aileron Heavy</vt:lpstr>
      <vt:lpstr>Marykate</vt:lpstr>
      <vt:lpstr>Inter</vt:lpstr>
      <vt:lpstr>Barlow Bold</vt:lpstr>
      <vt:lpstr>Hussar Bold</vt:lpstr>
      <vt:lpstr>Roboto</vt:lpstr>
      <vt:lpstr>Inter 18pt SemiBold</vt:lpstr>
      <vt:lpstr>Arial MT Pro</vt:lpstr>
      <vt:lpstr>Calibri</vt:lpstr>
      <vt:lpstr>Barlow Medium</vt:lpstr>
      <vt:lpstr>Arial MT</vt:lpstr>
      <vt:lpstr>Helvetica World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Environmental_Intelligence_System_Roadmap.pdf</dc:title>
  <dc:creator>developer</dc:creator>
  <cp:lastModifiedBy>Henry Ai</cp:lastModifiedBy>
  <cp:revision>27</cp:revision>
  <cp:lastPrinted>2026-01-25T08:16:19Z</cp:lastPrinted>
  <dcterms:created xsi:type="dcterms:W3CDTF">2006-08-16T00:00:00Z</dcterms:created>
  <dcterms:modified xsi:type="dcterms:W3CDTF">2026-01-26T02:55:10Z</dcterms:modified>
  <dc:identifier>DAG_ZucMccQ</dc:identifier>
</cp:coreProperties>
</file>