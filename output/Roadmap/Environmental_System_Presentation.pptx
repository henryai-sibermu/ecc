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Environmental Carrying Capacity</a:t>
            </a:r>
          </a:p>
          <a:p>
            <a:r>
              <a:t>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 Intelijen Daya Dukung Lingkungan Berbasis Spasial</a:t>
            </a:r>
          </a:p>
          <a:p>
            <a:r>
              <a:t>Start Date: 2025 | Duration: 3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47AB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Visi: Membangun Shadow Database &amp; Instrumen Audit Ekologis</a:t>
            </a:r>
          </a:p>
          <a:p>
            <a:pPr lvl="1">
              <a:defRPr sz="1800"/>
            </a:pPr>
            <a:r>
              <a:t>Phase 1 (2025): Audit &amp; Infrastruktur Data (Membongkar Black Box Regulasi)</a:t>
            </a:r>
          </a:p>
          <a:p>
            <a:pPr lvl="1">
              <a:defRPr sz="1800"/>
            </a:pPr>
            <a:r>
              <a:t>Phase 2 (2026): Technical Assessment (Kalkulasi Ilmiah Defisit Ekologis)</a:t>
            </a:r>
          </a:p>
          <a:p>
            <a:pPr lvl="1">
              <a:defRPr sz="1800"/>
            </a:pPr>
            <a:r>
              <a:t>Phase 3 (2027): Policy Integration (Moratorium &amp; Blocking System OSS)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E44AD"/>
                </a:solidFill>
              </a:defRPr>
            </a:pPr>
            <a:r>
              <a:t>Tahun 2025: Audit Regulasi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Tema: Pembangunan Infrastruktur Data</a:t>
            </a:r>
          </a:p>
          <a:p>
            <a:pPr lvl="1">
              <a:defRPr sz="1800"/>
            </a:pPr>
            <a:r>
              <a:t>Method: Audit Legal Dokumen Tata Ruang &amp; Policy Gap Analysis</a:t>
            </a:r>
          </a:p>
          <a:p>
            <a:pPr lvl="1">
              <a:defRPr sz="1800"/>
            </a:pPr>
            <a:r>
              <a:t>Material: Dokumen UU/PP, Data Demografi BPS, PDRB</a:t>
            </a:r>
          </a:p>
          <a:p>
            <a:pPr lvl="1">
              <a:defRPr sz="1800"/>
            </a:pPr>
            <a:r>
              <a:t>Activity: Digitasi Peta RTRW (PDF to Vector), Cleaning Data Statistik</a:t>
            </a:r>
          </a:p>
          <a:p>
            <a:pPr lvl="1">
              <a:defRPr sz="1800"/>
            </a:pPr>
            <a:r>
              <a:t>Output: Dokumen 'Political Economy of Data Control' &amp; Database Tandingan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980B9"/>
                </a:solidFill>
              </a:defRPr>
            </a:pPr>
            <a:r>
              <a:t>Tahun 2026: Technical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Tema: Pemodelan Analitis &amp; Simulasi</a:t>
            </a:r>
          </a:p>
          <a:p>
            <a:pPr lvl="1">
              <a:defRPr sz="1800"/>
            </a:pPr>
            <a:r>
              <a:t>Method: Bottom-up Carbon Footprint &amp; Biocapacity Calculation</a:t>
            </a:r>
          </a:p>
          <a:p>
            <a:pPr lvl="1">
              <a:defRPr sz="1800"/>
            </a:pPr>
            <a:r>
              <a:t>Material: Detail Konsumsi Per Kapita, Faktor Emisi Lokal, Peta Ekosistem</a:t>
            </a:r>
          </a:p>
          <a:p>
            <a:pPr lvl="1">
              <a:defRPr sz="1800"/>
            </a:pPr>
            <a:r>
              <a:t>Activity: Core Logic Simulation (CF vs Biocapacity), Penetapan Zona Merah</a:t>
            </a:r>
          </a:p>
          <a:p>
            <a:pPr lvl="1">
              <a:defRPr sz="1800"/>
            </a:pPr>
            <a:r>
              <a:t>Output: Prototype Indeks Terbuka, Spatial Mapping, Policy Brief Pemda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47AB"/>
                </a:solidFill>
              </a:defRPr>
            </a:pPr>
            <a:r>
              <a:t>Tahun 2027: Policy &amp;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Tema: Monitoring Publik &amp; Advokasi Digital</a:t>
            </a:r>
          </a:p>
          <a:p>
            <a:pPr lvl="1">
              <a:defRPr sz="1800"/>
            </a:pPr>
            <a:r>
              <a:t>Method: Scientific Threshold Setting &amp; Legal Drafting Naskah Akademik</a:t>
            </a:r>
          </a:p>
          <a:p>
            <a:pPr lvl="1">
              <a:defRPr sz="1800"/>
            </a:pPr>
            <a:r>
              <a:t>Material: Matriks CF vs Biokapasitas, API Data Real-time</a:t>
            </a:r>
          </a:p>
          <a:p>
            <a:pPr lvl="1">
              <a:defRPr sz="1800"/>
            </a:pPr>
            <a:r>
              <a:t>Activity: Dashboard Web-GIS Development, Integrasi API OSS</a:t>
            </a:r>
          </a:p>
          <a:p>
            <a:pPr lvl="1">
              <a:defRPr sz="1800"/>
            </a:pPr>
            <a:r>
              <a:t>Output: Policy Roadmap Nasional, Kebijakan Moratorium, Blocking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35400"/>
                </a:solidFill>
              </a:defRPr>
            </a:pPr>
            <a:r>
              <a:t>Lampiran Teknis 1: Rumus Pangan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CF(FC) = Sum(Populasi x Konsumsi x Emisi)</a:t>
            </a:r>
          </a:p>
          <a:p>
            <a:pPr lvl="1">
              <a:defRPr sz="1800"/>
            </a:pPr>
            <a:r>
              <a:t>IN (Populasi): Total jumlah penduduk (Sumber: BPS)</a:t>
            </a:r>
          </a:p>
          <a:p>
            <a:pPr lvl="1">
              <a:defRPr sz="1800"/>
            </a:pPr>
            <a:r>
              <a:t>AF (Konsumsi): Rata-rata konsumsi pangan per kapita (Sumber: Susenas)</a:t>
            </a:r>
          </a:p>
          <a:p>
            <a:pPr lvl="1">
              <a:defRPr sz="1800"/>
            </a:pPr>
            <a:r>
              <a:t>ICO2 (Emisi): Intensitas Karbon per kg produk (Sumber: LCA BRIN)</a:t>
            </a:r>
          </a:p>
          <a:p>
            <a:pPr lvl="1">
              <a:defRPr sz="1800"/>
            </a:pPr>
            <a:r>
              <a:t>EQF: Faktor Ekuivalensi Lahan (Sumber: GFN)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35400"/>
                </a:solidFill>
              </a:defRPr>
            </a:pPr>
            <a:r>
              <a:t>Lampiran Teknis 1: Rumus Perumahan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Limbah Cair (Sewage) &amp; Sampah Padat (Garbage)</a:t>
            </a:r>
          </a:p>
          <a:p>
            <a:pPr lvl="1">
              <a:defRPr sz="1800"/>
            </a:pPr>
            <a:r>
              <a:t>Limbah Cair: CF = Populasi x Volume Limbah x Energi Pengolahan</a:t>
            </a:r>
          </a:p>
          <a:p>
            <a:pPr lvl="1">
              <a:defRPr sz="1800"/>
            </a:pPr>
            <a:r>
              <a:t>Sampah: CF = Volume Sampah x Faktor Emisi TPA (Metana)</a:t>
            </a:r>
          </a:p>
          <a:p>
            <a:pPr lvl="1">
              <a:defRPr sz="1800"/>
            </a:pPr>
            <a:r>
              <a:t>Energi: CF = Konsumsi Listrik (kWh) x Faktor Emisi Grid (PLN)</a:t>
            </a:r>
          </a:p>
          <a:p>
            <a:pPr lvl="1">
              <a:defRPr sz="1800"/>
            </a:pPr>
            <a:r>
              <a:t>Sumber Data: SNI Air (PUPR), SIPSN KLHK, Laporan PLN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35400"/>
                </a:solidFill>
              </a:defRPr>
            </a:pPr>
            <a:r>
              <a:t>Lampiran Teknis 1: Rumus Mobilitas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CF(CU) = Kendaraan x BBM x Jarak x Emisi</a:t>
            </a:r>
          </a:p>
          <a:p>
            <a:pPr lvl="1">
              <a:defRPr sz="1800"/>
            </a:pPr>
            <a:r>
              <a:t>CN: Jumlah Kendaraan Terdaftar (SAMSAT)</a:t>
            </a:r>
          </a:p>
          <a:p>
            <a:pPr lvl="1">
              <a:defRPr sz="1800"/>
            </a:pPr>
            <a:r>
              <a:t>AF: Konsumsi BBM Tahunan (Liter)</a:t>
            </a:r>
          </a:p>
          <a:p>
            <a:pPr lvl="1">
              <a:defRPr sz="1800"/>
            </a:pPr>
            <a:r>
              <a:t>FF: Faktor Konversi Energi (MJ/Liter)</a:t>
            </a:r>
          </a:p>
          <a:p>
            <a:pPr lvl="1">
              <a:defRPr sz="1800"/>
            </a:pPr>
            <a:r>
              <a:t>IKCO2: Emisi per KM Perjalanan (Pusjatan)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66534"/>
                </a:solidFill>
              </a:defRPr>
            </a:pPr>
            <a:r>
              <a:t>Lampiran Teknis 2: Sumber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Referensi Lokal &amp; Global (Benchmarking)</a:t>
            </a:r>
          </a:p>
          <a:p>
            <a:pPr lvl="1">
              <a:defRPr sz="1800"/>
            </a:pPr>
            <a:r>
              <a:t>Pangan: BPS / Dinas Ketahanan Pangan (Ref Global: Bank Danych Lokalnych)</a:t>
            </a:r>
          </a:p>
          <a:p>
            <a:pPr lvl="1">
              <a:defRPr sz="1800"/>
            </a:pPr>
            <a:r>
              <a:t>Limbah: Dinas Lingkungan Hidup / PDAM (Ref Global: MPWiK Wroclaw)</a:t>
            </a:r>
          </a:p>
          <a:p>
            <a:pPr lvl="1">
              <a:defRPr sz="1800"/>
            </a:pPr>
            <a:r>
              <a:t>Energi: PLN / Pertamina / PGN (Ref Global: Tauron Reports)</a:t>
            </a:r>
          </a:p>
          <a:p>
            <a:pPr lvl="1">
              <a:defRPr sz="1800"/>
            </a:pPr>
            <a:r>
              <a:t>Lahan: KLHK / BIG / Citra Satelit (Ref Global: Copernicus Land)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66534"/>
                </a:solidFill>
              </a:defRPr>
            </a:pPr>
            <a:r>
              <a:t>Lampiran Teknis 2: Zona Terbatas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64748B"/>
                </a:solidFill>
              </a:defRPr>
            </a:pPr>
            <a:r>
              <a:t>Variabel Pembatas Lahan (Excluded Areas)</a:t>
            </a:r>
          </a:p>
          <a:p>
            <a:pPr lvl="1">
              <a:defRPr sz="1800"/>
            </a:pPr>
            <a:r>
              <a:t>Area Lindung: Kawasan Hutan Lindung &amp; Konservasi (KLHK)</a:t>
            </a:r>
          </a:p>
          <a:p>
            <a:pPr lvl="1">
              <a:defRPr sz="1800"/>
            </a:pPr>
            <a:r>
              <a:t>Hidrologi: Sempadan Sungai &amp; Danau (PUPR/BIG)</a:t>
            </a:r>
          </a:p>
          <a:p>
            <a:pPr lvl="1">
              <a:defRPr sz="1800"/>
            </a:pPr>
            <a:r>
              <a:t>Rawan Bencana: Peta Risiko Banjir Q 10% (BNPB)</a:t>
            </a:r>
          </a:p>
          <a:p>
            <a:pPr lvl="1">
              <a:defRPr sz="1800"/>
            </a:pPr>
            <a:r>
              <a:t>Agroekologi: Peta Kesesuaian Lahan Pertanian (Kementan)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